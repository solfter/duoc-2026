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8" r:id="rId3"/>
    <p:sldId id="259" r:id="rId4"/>
    <p:sldId id="260" r:id="rId5"/>
    <p:sldId id="275" r:id="rId6"/>
    <p:sldId id="276" r:id="rId7"/>
    <p:sldId id="277" r:id="rId8"/>
    <p:sldId id="278" r:id="rId9"/>
    <p:sldId id="263" r:id="rId10"/>
    <p:sldId id="264" r:id="rId11"/>
    <p:sldId id="265" r:id="rId12"/>
    <p:sldId id="266" r:id="rId13"/>
    <p:sldId id="267" r:id="rId14"/>
    <p:sldId id="270" r:id="rId15"/>
    <p:sldId id="269" r:id="rId16"/>
    <p:sldId id="292" r:id="rId17"/>
    <p:sldId id="293" r:id="rId18"/>
    <p:sldId id="294" r:id="rId19"/>
    <p:sldId id="295" r:id="rId20"/>
    <p:sldId id="291" r:id="rId21"/>
    <p:sldId id="290" r:id="rId22"/>
  </p:sldIdLst>
  <p:sldSz cx="12192000" cy="6858000"/>
  <p:notesSz cx="6858000" cy="9144000"/>
  <p:embeddedFontLst>
    <p:embeddedFont>
      <p:font typeface="Bierstadt Display" panose="020B0004020202020204" pitchFamily="34" charset="0"/>
      <p:regular r:id="rId24"/>
      <p:bold r:id="rId25"/>
    </p:embeddedFont>
    <p:embeddedFont>
      <p:font typeface="Play"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Tzr7BVe4j6cooa+/w/Jvk1Ap42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987199-DBB6-490C-8FBD-8ACA2BE34F6C}" v="2" dt="2026-03-20T19:32:50.5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pinto" userId="64cd8e47268d54ef" providerId="LiveId" clId="{CBE2701F-21C0-4554-8E9A-694E2739A54A}"/>
    <pc:docChg chg="custSel addSld delSld modSld sldOrd">
      <pc:chgData name="guillermo pinto" userId="64cd8e47268d54ef" providerId="LiveId" clId="{CBE2701F-21C0-4554-8E9A-694E2739A54A}" dt="2026-03-20T19:36:57.793" v="115" actId="33524"/>
      <pc:docMkLst>
        <pc:docMk/>
      </pc:docMkLst>
      <pc:sldChg chg="modSp mod">
        <pc:chgData name="guillermo pinto" userId="64cd8e47268d54ef" providerId="LiveId" clId="{CBE2701F-21C0-4554-8E9A-694E2739A54A}" dt="2026-03-20T19:33:01.025" v="66" actId="113"/>
        <pc:sldMkLst>
          <pc:docMk/>
          <pc:sldMk cId="1297279943" sldId="269"/>
        </pc:sldMkLst>
        <pc:spChg chg="mod">
          <ac:chgData name="guillermo pinto" userId="64cd8e47268d54ef" providerId="LiveId" clId="{CBE2701F-21C0-4554-8E9A-694E2739A54A}" dt="2026-03-20T19:31:04.235" v="40" actId="1076"/>
          <ac:spMkLst>
            <pc:docMk/>
            <pc:sldMk cId="1297279943" sldId="269"/>
            <ac:spMk id="2" creationId="{6D850380-11CD-8B3E-F93E-9EE6CBA4F7DE}"/>
          </ac:spMkLst>
        </pc:spChg>
        <pc:spChg chg="mod">
          <ac:chgData name="guillermo pinto" userId="64cd8e47268d54ef" providerId="LiveId" clId="{CBE2701F-21C0-4554-8E9A-694E2739A54A}" dt="2026-03-20T19:33:01.025" v="66" actId="113"/>
          <ac:spMkLst>
            <pc:docMk/>
            <pc:sldMk cId="1297279943" sldId="269"/>
            <ac:spMk id="5" creationId="{38F57AFB-FFC0-5452-6FE1-411E0BB0E726}"/>
          </ac:spMkLst>
        </pc:spChg>
      </pc:sldChg>
      <pc:sldChg chg="modSp add mod">
        <pc:chgData name="guillermo pinto" userId="64cd8e47268d54ef" providerId="LiveId" clId="{CBE2701F-21C0-4554-8E9A-694E2739A54A}" dt="2026-03-20T19:30:13.418" v="17" actId="14100"/>
        <pc:sldMkLst>
          <pc:docMk/>
          <pc:sldMk cId="1795622692" sldId="270"/>
        </pc:sldMkLst>
        <pc:spChg chg="mod">
          <ac:chgData name="guillermo pinto" userId="64cd8e47268d54ef" providerId="LiveId" clId="{CBE2701F-21C0-4554-8E9A-694E2739A54A}" dt="2026-03-20T19:30:13.418" v="17" actId="14100"/>
          <ac:spMkLst>
            <pc:docMk/>
            <pc:sldMk cId="1795622692" sldId="270"/>
            <ac:spMk id="4" creationId="{F94456A9-1780-5675-2772-92F359818DA5}"/>
          </ac:spMkLst>
        </pc:spChg>
      </pc:sldChg>
      <pc:sldChg chg="add del ord">
        <pc:chgData name="guillermo pinto" userId="64cd8e47268d54ef" providerId="LiveId" clId="{CBE2701F-21C0-4554-8E9A-694E2739A54A}" dt="2026-03-20T19:30:00.380" v="4" actId="47"/>
        <pc:sldMkLst>
          <pc:docMk/>
          <pc:sldMk cId="879286247" sldId="291"/>
        </pc:sldMkLst>
      </pc:sldChg>
      <pc:sldChg chg="add">
        <pc:chgData name="guillermo pinto" userId="64cd8e47268d54ef" providerId="LiveId" clId="{CBE2701F-21C0-4554-8E9A-694E2739A54A}" dt="2026-03-20T19:30:16.982" v="18" actId="2890"/>
        <pc:sldMkLst>
          <pc:docMk/>
          <pc:sldMk cId="1507981789" sldId="291"/>
        </pc:sldMkLst>
      </pc:sldChg>
      <pc:sldChg chg="modSp add mod">
        <pc:chgData name="guillermo pinto" userId="64cd8e47268d54ef" providerId="LiveId" clId="{CBE2701F-21C0-4554-8E9A-694E2739A54A}" dt="2026-03-20T19:32:31.081" v="60" actId="113"/>
        <pc:sldMkLst>
          <pc:docMk/>
          <pc:sldMk cId="2740012341" sldId="292"/>
        </pc:sldMkLst>
        <pc:spChg chg="mod">
          <ac:chgData name="guillermo pinto" userId="64cd8e47268d54ef" providerId="LiveId" clId="{CBE2701F-21C0-4554-8E9A-694E2739A54A}" dt="2026-03-20T19:32:31.081" v="60" actId="113"/>
          <ac:spMkLst>
            <pc:docMk/>
            <pc:sldMk cId="2740012341" sldId="292"/>
            <ac:spMk id="5" creationId="{54445A7A-4CE7-5479-D7C5-E52A4DC93F7A}"/>
          </ac:spMkLst>
        </pc:spChg>
      </pc:sldChg>
      <pc:sldChg chg="modSp add mod">
        <pc:chgData name="guillermo pinto" userId="64cd8e47268d54ef" providerId="LiveId" clId="{CBE2701F-21C0-4554-8E9A-694E2739A54A}" dt="2026-03-20T19:33:52.215" v="76" actId="12"/>
        <pc:sldMkLst>
          <pc:docMk/>
          <pc:sldMk cId="1055961976" sldId="293"/>
        </pc:sldMkLst>
        <pc:spChg chg="mod">
          <ac:chgData name="guillermo pinto" userId="64cd8e47268d54ef" providerId="LiveId" clId="{CBE2701F-21C0-4554-8E9A-694E2739A54A}" dt="2026-03-20T19:33:52.215" v="76" actId="12"/>
          <ac:spMkLst>
            <pc:docMk/>
            <pc:sldMk cId="1055961976" sldId="293"/>
            <ac:spMk id="5" creationId="{BE23F7D2-7C60-D16F-0217-FA0E4C2B786A}"/>
          </ac:spMkLst>
        </pc:spChg>
      </pc:sldChg>
      <pc:sldChg chg="modSp add mod">
        <pc:chgData name="guillermo pinto" userId="64cd8e47268d54ef" providerId="LiveId" clId="{CBE2701F-21C0-4554-8E9A-694E2739A54A}" dt="2026-03-20T19:35:33.461" v="101" actId="20577"/>
        <pc:sldMkLst>
          <pc:docMk/>
          <pc:sldMk cId="1022278661" sldId="294"/>
        </pc:sldMkLst>
        <pc:spChg chg="mod">
          <ac:chgData name="guillermo pinto" userId="64cd8e47268d54ef" providerId="LiveId" clId="{CBE2701F-21C0-4554-8E9A-694E2739A54A}" dt="2026-03-20T19:35:33.461" v="101" actId="20577"/>
          <ac:spMkLst>
            <pc:docMk/>
            <pc:sldMk cId="1022278661" sldId="294"/>
            <ac:spMk id="5" creationId="{A9B19167-2625-0AC4-4DFB-20ECD1B4F3C7}"/>
          </ac:spMkLst>
        </pc:spChg>
      </pc:sldChg>
      <pc:sldChg chg="modSp add mod">
        <pc:chgData name="guillermo pinto" userId="64cd8e47268d54ef" providerId="LiveId" clId="{CBE2701F-21C0-4554-8E9A-694E2739A54A}" dt="2026-03-20T19:36:57.793" v="115" actId="33524"/>
        <pc:sldMkLst>
          <pc:docMk/>
          <pc:sldMk cId="550274268" sldId="295"/>
        </pc:sldMkLst>
        <pc:spChg chg="mod">
          <ac:chgData name="guillermo pinto" userId="64cd8e47268d54ef" providerId="LiveId" clId="{CBE2701F-21C0-4554-8E9A-694E2739A54A}" dt="2026-03-20T19:36:57.793" v="115" actId="33524"/>
          <ac:spMkLst>
            <pc:docMk/>
            <pc:sldMk cId="550274268" sldId="295"/>
            <ac:spMk id="5" creationId="{517BA2F0-34B8-C30E-8608-2A2679DD2B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fbf7af212_0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31fbf7af212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fbf7af212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g31fbf7af21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1fbf7af212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g31fbf7af212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1ff3fd5aa6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31ff3fd5aa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1ff3fd5aa6_0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g31ff3fd5aa6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1ff3fd5aa6_0_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g31ff3fd5aa6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ORTADA principal">
  <p:cSld name="PORTADA principal">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16"/>
          <p:cNvPicPr preferRelativeResize="0"/>
          <p:nvPr/>
        </p:nvPicPr>
        <p:blipFill rotWithShape="1">
          <a:blip r:embed="rId3">
            <a:alphaModFix/>
          </a:blip>
          <a:srcRect/>
          <a:stretch/>
        </p:blipFill>
        <p:spPr>
          <a:xfrm>
            <a:off x="11859053" y="1796807"/>
            <a:ext cx="70965" cy="3264387"/>
          </a:xfrm>
          <a:prstGeom prst="rect">
            <a:avLst/>
          </a:prstGeom>
          <a:noFill/>
          <a:ln>
            <a:noFill/>
          </a:ln>
        </p:spPr>
      </p:pic>
      <p:sp>
        <p:nvSpPr>
          <p:cNvPr id="17" name="Google Shape;17;p16"/>
          <p:cNvSpPr/>
          <p:nvPr/>
        </p:nvSpPr>
        <p:spPr>
          <a:xfrm>
            <a:off x="5944993" y="616688"/>
            <a:ext cx="5674686" cy="5667154"/>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8" name="Google Shape;18;p16"/>
          <p:cNvSpPr/>
          <p:nvPr/>
        </p:nvSpPr>
        <p:spPr>
          <a:xfrm>
            <a:off x="6398549" y="2788646"/>
            <a:ext cx="294796" cy="29479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b="0" i="0" u="none" strike="noStrike" cap="none">
              <a:solidFill>
                <a:schemeClr val="lt1"/>
              </a:solidFill>
              <a:latin typeface="Arial"/>
              <a:ea typeface="Arial"/>
              <a:cs typeface="Arial"/>
              <a:sym typeface="Arial"/>
            </a:endParaRPr>
          </a:p>
        </p:txBody>
      </p:sp>
      <p:cxnSp>
        <p:nvCxnSpPr>
          <p:cNvPr id="19" name="Google Shape;19;p16"/>
          <p:cNvCxnSpPr/>
          <p:nvPr/>
        </p:nvCxnSpPr>
        <p:spPr>
          <a:xfrm>
            <a:off x="6996223" y="4106486"/>
            <a:ext cx="4114800" cy="0"/>
          </a:xfrm>
          <a:prstGeom prst="straightConnector1">
            <a:avLst/>
          </a:prstGeom>
          <a:noFill/>
          <a:ln w="19050" cap="flat" cmpd="sng">
            <a:solidFill>
              <a:schemeClr val="lt1"/>
            </a:solidFill>
            <a:prstDash val="solid"/>
            <a:miter lim="800000"/>
            <a:headEnd type="none" w="sm" len="sm"/>
            <a:tailEnd type="none" w="sm" len="sm"/>
          </a:ln>
        </p:spPr>
      </p:cxnSp>
      <p:sp>
        <p:nvSpPr>
          <p:cNvPr id="20" name="Google Shape;20;p16"/>
          <p:cNvSpPr txBox="1">
            <a:spLocks noGrp="1"/>
          </p:cNvSpPr>
          <p:nvPr>
            <p:ph type="title"/>
          </p:nvPr>
        </p:nvSpPr>
        <p:spPr>
          <a:xfrm>
            <a:off x="6915809" y="2601411"/>
            <a:ext cx="4377817" cy="130605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6"/>
          <p:cNvSpPr txBox="1">
            <a:spLocks noGrp="1"/>
          </p:cNvSpPr>
          <p:nvPr>
            <p:ph type="subTitle" idx="1"/>
          </p:nvPr>
        </p:nvSpPr>
        <p:spPr>
          <a:xfrm>
            <a:off x="6937285" y="4305507"/>
            <a:ext cx="4356341" cy="614285"/>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lt1"/>
              </a:buClr>
              <a:buSzPts val="2400"/>
              <a:buChar char="•"/>
              <a:defRPr sz="2400">
                <a:solidFill>
                  <a:schemeClr val="lt1"/>
                </a:solidFill>
                <a:latin typeface="Arial"/>
                <a:ea typeface="Arial"/>
                <a:cs typeface="Arial"/>
                <a:sym typeface="Arial"/>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2" name="Google Shape;22;p16"/>
          <p:cNvPicPr preferRelativeResize="0"/>
          <p:nvPr/>
        </p:nvPicPr>
        <p:blipFill rotWithShape="1">
          <a:blip r:embed="rId4">
            <a:alphaModFix/>
          </a:blip>
          <a:srcRect/>
          <a:stretch/>
        </p:blipFill>
        <p:spPr>
          <a:xfrm>
            <a:off x="7168812" y="1206961"/>
            <a:ext cx="3375906" cy="54231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ORTADA interior 1">
  <p:cSld name="PORTADA interior 1">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17"/>
          <p:cNvSpPr/>
          <p:nvPr/>
        </p:nvSpPr>
        <p:spPr>
          <a:xfrm>
            <a:off x="7765159" y="2143668"/>
            <a:ext cx="3936955" cy="2845428"/>
          </a:xfrm>
          <a:prstGeom prst="rect">
            <a:avLst/>
          </a:prstGeom>
          <a:solidFill>
            <a:srgbClr val="FFFFFF">
              <a:alpha val="3098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 name="Google Shape;25;p17"/>
          <p:cNvSpPr/>
          <p:nvPr/>
        </p:nvSpPr>
        <p:spPr>
          <a:xfrm>
            <a:off x="7765160" y="2143669"/>
            <a:ext cx="342858" cy="342858"/>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6" name="Google Shape;26;p17"/>
          <p:cNvSpPr txBox="1">
            <a:spLocks noGrp="1"/>
          </p:cNvSpPr>
          <p:nvPr>
            <p:ph type="title"/>
          </p:nvPr>
        </p:nvSpPr>
        <p:spPr>
          <a:xfrm>
            <a:off x="8458521" y="2752716"/>
            <a:ext cx="2805775" cy="16273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Arial"/>
              <a:buNone/>
              <a:defRPr sz="32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7"/>
          <p:cNvSpPr/>
          <p:nvPr/>
        </p:nvSpPr>
        <p:spPr>
          <a:xfrm>
            <a:off x="0" y="2695073"/>
            <a:ext cx="1459832" cy="1467854"/>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8" name="Google Shape;28;p17"/>
          <p:cNvSpPr txBox="1"/>
          <p:nvPr/>
        </p:nvSpPr>
        <p:spPr>
          <a:xfrm>
            <a:off x="-1" y="2752716"/>
            <a:ext cx="1459833" cy="1377184"/>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lt1"/>
              </a:buClr>
              <a:buSzPts val="8000"/>
              <a:buFont typeface="Arial"/>
              <a:buNone/>
            </a:pPr>
            <a:r>
              <a:rPr lang="es-ES" sz="8000" b="1" i="0" u="none" strike="noStrike" cap="none">
                <a:solidFill>
                  <a:schemeClr val="lt1"/>
                </a:solidFill>
                <a:latin typeface="Arial"/>
                <a:ea typeface="Arial"/>
                <a:cs typeface="Arial"/>
                <a:sym typeface="Arial"/>
              </a:rPr>
              <a:t>01</a:t>
            </a:r>
            <a:endParaRPr sz="8000" b="1"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ERIOR 1">
  <p:cSld name="INTERIOR 1">
    <p:spTree>
      <p:nvGrpSpPr>
        <p:cNvPr id="1" name="Shape 29"/>
        <p:cNvGrpSpPr/>
        <p:nvPr/>
      </p:nvGrpSpPr>
      <p:grpSpPr>
        <a:xfrm>
          <a:off x="0" y="0"/>
          <a:ext cx="0" cy="0"/>
          <a:chOff x="0" y="0"/>
          <a:chExt cx="0" cy="0"/>
        </a:xfrm>
      </p:grpSpPr>
      <p:sp>
        <p:nvSpPr>
          <p:cNvPr id="30" name="Google Shape;30;p18"/>
          <p:cNvSpPr txBox="1">
            <a:spLocks noGrp="1"/>
          </p:cNvSpPr>
          <p:nvPr>
            <p:ph type="body" idx="1"/>
          </p:nvPr>
        </p:nvSpPr>
        <p:spPr>
          <a:xfrm>
            <a:off x="654685" y="551041"/>
            <a:ext cx="4916775" cy="46968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b="1">
                <a:solidFill>
                  <a:schemeClr val="dk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8"/>
          <p:cNvSpPr txBox="1">
            <a:spLocks noGrp="1"/>
          </p:cNvSpPr>
          <p:nvPr>
            <p:ph type="body" idx="2"/>
          </p:nvPr>
        </p:nvSpPr>
        <p:spPr>
          <a:xfrm>
            <a:off x="640715" y="1137571"/>
            <a:ext cx="4930746" cy="553006"/>
          </a:xfrm>
          <a:prstGeom prst="rect">
            <a:avLst/>
          </a:prstGeom>
          <a:noFill/>
          <a:ln>
            <a:noFill/>
          </a:ln>
        </p:spPr>
        <p:txBody>
          <a:bodyPr spcFirstLastPara="1" wrap="square" lIns="91425" tIns="45700" rIns="91425" bIns="45700" anchor="t" anchorCtr="0">
            <a:normAutofit/>
          </a:bodyPr>
          <a:lstStyle>
            <a:lvl1pPr marL="457200" lvl="0" indent="-317500" algn="l">
              <a:lnSpc>
                <a:spcPct val="90000"/>
              </a:lnSpc>
              <a:spcBef>
                <a:spcPts val="1000"/>
              </a:spcBef>
              <a:spcAft>
                <a:spcPts val="0"/>
              </a:spcAft>
              <a:buClr>
                <a:schemeClr val="dk1"/>
              </a:buClr>
              <a:buSzPts val="1400"/>
              <a:buChar char="•"/>
              <a:defRPr sz="1400">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8"/>
          <p:cNvSpPr/>
          <p:nvPr/>
        </p:nvSpPr>
        <p:spPr>
          <a:xfrm>
            <a:off x="0" y="0"/>
            <a:ext cx="552893" cy="552893"/>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33" name="Google Shape;33;p18"/>
          <p:cNvGrpSpPr/>
          <p:nvPr/>
        </p:nvGrpSpPr>
        <p:grpSpPr>
          <a:xfrm>
            <a:off x="10559057" y="6273209"/>
            <a:ext cx="1405046" cy="320981"/>
            <a:chOff x="8941676" y="5879067"/>
            <a:chExt cx="2618358" cy="598161"/>
          </a:xfrm>
        </p:grpSpPr>
        <p:sp>
          <p:nvSpPr>
            <p:cNvPr id="34" name="Google Shape;34;p18"/>
            <p:cNvSpPr/>
            <p:nvPr/>
          </p:nvSpPr>
          <p:spPr>
            <a:xfrm>
              <a:off x="8941676" y="5949980"/>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35;p18"/>
            <p:cNvSpPr/>
            <p:nvPr/>
          </p:nvSpPr>
          <p:spPr>
            <a:xfrm>
              <a:off x="10672317" y="5994129"/>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36" name="Google Shape;36;p18"/>
            <p:cNvGrpSpPr/>
            <p:nvPr/>
          </p:nvGrpSpPr>
          <p:grpSpPr>
            <a:xfrm>
              <a:off x="11114331" y="5879067"/>
              <a:ext cx="445703" cy="598161"/>
              <a:chOff x="18406074" y="10234089"/>
              <a:chExt cx="445703" cy="598161"/>
            </a:xfrm>
          </p:grpSpPr>
          <p:sp>
            <p:nvSpPr>
              <p:cNvPr id="37" name="Google Shape;37;p18"/>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38" name="Google Shape;38;p18"/>
              <p:cNvPicPr preferRelativeResize="0"/>
              <p:nvPr/>
            </p:nvPicPr>
            <p:blipFill rotWithShape="1">
              <a:blip r:embed="rId2">
                <a:alphaModFix/>
              </a:blip>
              <a:srcRect/>
              <a:stretch/>
            </p:blipFill>
            <p:spPr>
              <a:xfrm>
                <a:off x="18739823" y="10234089"/>
                <a:ext cx="111954" cy="111944"/>
              </a:xfrm>
              <a:prstGeom prst="rect">
                <a:avLst/>
              </a:prstGeom>
              <a:noFill/>
              <a:ln>
                <a:noFill/>
              </a:ln>
            </p:spPr>
          </p:pic>
        </p:grpSp>
      </p:grpSp>
      <p:pic>
        <p:nvPicPr>
          <p:cNvPr id="39" name="Google Shape;39;p18"/>
          <p:cNvPicPr preferRelativeResize="0"/>
          <p:nvPr/>
        </p:nvPicPr>
        <p:blipFill rotWithShape="1">
          <a:blip r:embed="rId3">
            <a:alphaModFix/>
          </a:blip>
          <a:srcRect/>
          <a:stretch/>
        </p:blipFill>
        <p:spPr>
          <a:xfrm rot="5400000">
            <a:off x="2714468" y="4342374"/>
            <a:ext cx="119408" cy="423897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ORTADA interior 2">
  <p:cSld name="PORTADA interior 2">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19"/>
          <p:cNvSpPr/>
          <p:nvPr/>
        </p:nvSpPr>
        <p:spPr>
          <a:xfrm>
            <a:off x="7765159" y="2143668"/>
            <a:ext cx="3936955" cy="2845428"/>
          </a:xfrm>
          <a:prstGeom prst="rect">
            <a:avLst/>
          </a:prstGeom>
          <a:solidFill>
            <a:srgbClr val="FFFFFF">
              <a:alpha val="3098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 name="Google Shape;42;p19"/>
          <p:cNvSpPr/>
          <p:nvPr/>
        </p:nvSpPr>
        <p:spPr>
          <a:xfrm>
            <a:off x="7765160" y="2143669"/>
            <a:ext cx="342858" cy="342858"/>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 name="Google Shape;43;p19"/>
          <p:cNvSpPr txBox="1">
            <a:spLocks noGrp="1"/>
          </p:cNvSpPr>
          <p:nvPr>
            <p:ph type="title"/>
          </p:nvPr>
        </p:nvSpPr>
        <p:spPr>
          <a:xfrm>
            <a:off x="8458521" y="2752716"/>
            <a:ext cx="2805775" cy="16273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Arial"/>
              <a:buNone/>
              <a:defRPr sz="32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9"/>
          <p:cNvSpPr/>
          <p:nvPr/>
        </p:nvSpPr>
        <p:spPr>
          <a:xfrm>
            <a:off x="0" y="2695073"/>
            <a:ext cx="1459832" cy="1467854"/>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 name="Google Shape;45;p19"/>
          <p:cNvSpPr txBox="1"/>
          <p:nvPr/>
        </p:nvSpPr>
        <p:spPr>
          <a:xfrm>
            <a:off x="-1" y="2752716"/>
            <a:ext cx="1459833" cy="1377184"/>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lt1"/>
              </a:buClr>
              <a:buSzPts val="8000"/>
              <a:buFont typeface="Arial"/>
              <a:buNone/>
            </a:pPr>
            <a:r>
              <a:rPr lang="es-ES" sz="8000" b="1">
                <a:solidFill>
                  <a:schemeClr val="lt1"/>
                </a:solidFill>
                <a:latin typeface="Arial"/>
                <a:ea typeface="Arial"/>
                <a:cs typeface="Arial"/>
                <a:sym typeface="Arial"/>
              </a:rPr>
              <a:t>02</a:t>
            </a:r>
            <a:endParaRPr sz="8000" b="1">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RIOR 3">
  <p:cSld name="INTERIOR 3">
    <p:spTree>
      <p:nvGrpSpPr>
        <p:cNvPr id="1" name="Shape 46"/>
        <p:cNvGrpSpPr/>
        <p:nvPr/>
      </p:nvGrpSpPr>
      <p:grpSpPr>
        <a:xfrm>
          <a:off x="0" y="0"/>
          <a:ext cx="0" cy="0"/>
          <a:chOff x="0" y="0"/>
          <a:chExt cx="0" cy="0"/>
        </a:xfrm>
      </p:grpSpPr>
      <p:sp>
        <p:nvSpPr>
          <p:cNvPr id="47" name="Google Shape;47;p20"/>
          <p:cNvSpPr/>
          <p:nvPr/>
        </p:nvSpPr>
        <p:spPr>
          <a:xfrm>
            <a:off x="0" y="0"/>
            <a:ext cx="1155032" cy="6858000"/>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 name="Google Shape;48;p20"/>
          <p:cNvSpPr/>
          <p:nvPr/>
        </p:nvSpPr>
        <p:spPr>
          <a:xfrm>
            <a:off x="485631" y="405838"/>
            <a:ext cx="155636" cy="155636"/>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chemeClr val="lt1"/>
              </a:solidFill>
              <a:latin typeface="Arial"/>
              <a:ea typeface="Arial"/>
              <a:cs typeface="Arial"/>
              <a:sym typeface="Arial"/>
            </a:endParaRPr>
          </a:p>
        </p:txBody>
      </p:sp>
      <p:sp>
        <p:nvSpPr>
          <p:cNvPr id="49" name="Google Shape;49;p20"/>
          <p:cNvSpPr txBox="1">
            <a:spLocks noGrp="1"/>
          </p:cNvSpPr>
          <p:nvPr>
            <p:ph type="body" idx="1"/>
          </p:nvPr>
        </p:nvSpPr>
        <p:spPr>
          <a:xfrm>
            <a:off x="6510853" y="405838"/>
            <a:ext cx="4916775" cy="469685"/>
          </a:xfrm>
          <a:prstGeom prst="rect">
            <a:avLst/>
          </a:prstGeom>
          <a:noFill/>
          <a:ln>
            <a:noFill/>
          </a:ln>
        </p:spPr>
        <p:txBody>
          <a:bodyPr spcFirstLastPara="1" wrap="square" lIns="91425" tIns="45700" rIns="91425" bIns="45700" anchor="t" anchorCtr="0">
            <a:noAutofit/>
          </a:bodyPr>
          <a:lstStyle>
            <a:lvl1pPr marL="457200" lvl="0" indent="-228600" algn="r">
              <a:lnSpc>
                <a:spcPct val="90000"/>
              </a:lnSpc>
              <a:spcBef>
                <a:spcPts val="1000"/>
              </a:spcBef>
              <a:spcAft>
                <a:spcPts val="0"/>
              </a:spcAft>
              <a:buClr>
                <a:schemeClr val="dk1"/>
              </a:buClr>
              <a:buSzPts val="3200"/>
              <a:buNone/>
              <a:defRPr sz="3200" b="1">
                <a:solidFill>
                  <a:schemeClr val="dk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0"/>
          <p:cNvSpPr txBox="1">
            <a:spLocks noGrp="1"/>
          </p:cNvSpPr>
          <p:nvPr>
            <p:ph type="body" idx="2"/>
          </p:nvPr>
        </p:nvSpPr>
        <p:spPr>
          <a:xfrm>
            <a:off x="6510853" y="976146"/>
            <a:ext cx="4930746" cy="281800"/>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dk1"/>
              </a:buClr>
              <a:buSzPts val="1400"/>
              <a:buNone/>
              <a:defRPr sz="1400">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0"/>
          <p:cNvSpPr/>
          <p:nvPr/>
        </p:nvSpPr>
        <p:spPr>
          <a:xfrm>
            <a:off x="11551912" y="483656"/>
            <a:ext cx="271438" cy="271438"/>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2" name="Google Shape;52;p20"/>
          <p:cNvGrpSpPr/>
          <p:nvPr/>
        </p:nvGrpSpPr>
        <p:grpSpPr>
          <a:xfrm>
            <a:off x="10559057" y="6273209"/>
            <a:ext cx="1405046" cy="320981"/>
            <a:chOff x="8941676" y="5879067"/>
            <a:chExt cx="2618358" cy="598161"/>
          </a:xfrm>
        </p:grpSpPr>
        <p:sp>
          <p:nvSpPr>
            <p:cNvPr id="53" name="Google Shape;53;p20"/>
            <p:cNvSpPr/>
            <p:nvPr/>
          </p:nvSpPr>
          <p:spPr>
            <a:xfrm>
              <a:off x="8941676" y="5949980"/>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 name="Google Shape;54;p20"/>
            <p:cNvSpPr/>
            <p:nvPr/>
          </p:nvSpPr>
          <p:spPr>
            <a:xfrm>
              <a:off x="10672317" y="5994129"/>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55" name="Google Shape;55;p20"/>
            <p:cNvGrpSpPr/>
            <p:nvPr/>
          </p:nvGrpSpPr>
          <p:grpSpPr>
            <a:xfrm>
              <a:off x="11114331" y="5879067"/>
              <a:ext cx="445703" cy="598161"/>
              <a:chOff x="18406074" y="10234089"/>
              <a:chExt cx="445703" cy="598161"/>
            </a:xfrm>
          </p:grpSpPr>
          <p:sp>
            <p:nvSpPr>
              <p:cNvPr id="56" name="Google Shape;56;p20"/>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57" name="Google Shape;57;p20"/>
              <p:cNvPicPr preferRelativeResize="0"/>
              <p:nvPr/>
            </p:nvPicPr>
            <p:blipFill rotWithShape="1">
              <a:blip r:embed="rId2">
                <a:alphaModFix/>
              </a:blip>
              <a:srcRect/>
              <a:stretch/>
            </p:blipFill>
            <p:spPr>
              <a:xfrm>
                <a:off x="18739823" y="10234089"/>
                <a:ext cx="111954" cy="111944"/>
              </a:xfrm>
              <a:prstGeom prst="rect">
                <a:avLst/>
              </a:prstGeom>
              <a:noFill/>
              <a:ln>
                <a:noFill/>
              </a:ln>
            </p:spPr>
          </p:pic>
        </p:grpSp>
      </p:grpSp>
      <p:pic>
        <p:nvPicPr>
          <p:cNvPr id="58" name="Google Shape;58;p20"/>
          <p:cNvPicPr preferRelativeResize="0"/>
          <p:nvPr/>
        </p:nvPicPr>
        <p:blipFill rotWithShape="1">
          <a:blip r:embed="rId3">
            <a:alphaModFix/>
          </a:blip>
          <a:srcRect/>
          <a:stretch/>
        </p:blipFill>
        <p:spPr>
          <a:xfrm>
            <a:off x="517592" y="2244940"/>
            <a:ext cx="119084" cy="422748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ORTADA interior 4">
  <p:cSld name="PORTADA interior 4">
    <p:bg>
      <p:bgPr>
        <a:blipFill>
          <a:blip r:embed="rId2">
            <a:alphaModFix/>
          </a:blip>
          <a:stretch>
            <a:fillRect/>
          </a:stretch>
        </a:blipFill>
        <a:effectLst/>
      </p:bgPr>
    </p:bg>
    <p:spTree>
      <p:nvGrpSpPr>
        <p:cNvPr id="1" name="Shape 59"/>
        <p:cNvGrpSpPr/>
        <p:nvPr/>
      </p:nvGrpSpPr>
      <p:grpSpPr>
        <a:xfrm>
          <a:off x="0" y="0"/>
          <a:ext cx="0" cy="0"/>
          <a:chOff x="0" y="0"/>
          <a:chExt cx="0" cy="0"/>
        </a:xfrm>
      </p:grpSpPr>
      <p:sp>
        <p:nvSpPr>
          <p:cNvPr id="60" name="Google Shape;60;p21"/>
          <p:cNvSpPr/>
          <p:nvPr/>
        </p:nvSpPr>
        <p:spPr>
          <a:xfrm>
            <a:off x="7765159" y="2143668"/>
            <a:ext cx="3936955" cy="2845428"/>
          </a:xfrm>
          <a:prstGeom prst="rect">
            <a:avLst/>
          </a:prstGeom>
          <a:solidFill>
            <a:srgbClr val="FFFFFF">
              <a:alpha val="3098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1" name="Google Shape;61;p21"/>
          <p:cNvSpPr/>
          <p:nvPr/>
        </p:nvSpPr>
        <p:spPr>
          <a:xfrm>
            <a:off x="7765160" y="2143669"/>
            <a:ext cx="342858" cy="342858"/>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21"/>
          <p:cNvSpPr txBox="1">
            <a:spLocks noGrp="1"/>
          </p:cNvSpPr>
          <p:nvPr>
            <p:ph type="title"/>
          </p:nvPr>
        </p:nvSpPr>
        <p:spPr>
          <a:xfrm>
            <a:off x="8458521" y="2752716"/>
            <a:ext cx="2805775" cy="16273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Arial"/>
              <a:buNone/>
              <a:defRPr sz="32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p:nvPr/>
        </p:nvSpPr>
        <p:spPr>
          <a:xfrm>
            <a:off x="0" y="2695073"/>
            <a:ext cx="1459832" cy="1467854"/>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 name="Google Shape;64;p21"/>
          <p:cNvSpPr txBox="1"/>
          <p:nvPr/>
        </p:nvSpPr>
        <p:spPr>
          <a:xfrm>
            <a:off x="-1" y="2752716"/>
            <a:ext cx="1459833" cy="1377184"/>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lt1"/>
              </a:buClr>
              <a:buSzPts val="8000"/>
              <a:buFont typeface="Arial"/>
              <a:buNone/>
            </a:pPr>
            <a:r>
              <a:rPr lang="es-ES" sz="8000" b="1">
                <a:solidFill>
                  <a:schemeClr val="lt1"/>
                </a:solidFill>
                <a:latin typeface="Arial"/>
                <a:ea typeface="Arial"/>
                <a:cs typeface="Arial"/>
                <a:sym typeface="Arial"/>
              </a:rPr>
              <a:t>03</a:t>
            </a:r>
            <a:endParaRPr sz="8000" b="1">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TERIOR 2">
  <p:cSld name="INTERIOR 2">
    <p:spTree>
      <p:nvGrpSpPr>
        <p:cNvPr id="1" name="Shape 65"/>
        <p:cNvGrpSpPr/>
        <p:nvPr/>
      </p:nvGrpSpPr>
      <p:grpSpPr>
        <a:xfrm>
          <a:off x="0" y="0"/>
          <a:ext cx="0" cy="0"/>
          <a:chOff x="0" y="0"/>
          <a:chExt cx="0" cy="0"/>
        </a:xfrm>
      </p:grpSpPr>
      <p:sp>
        <p:nvSpPr>
          <p:cNvPr id="66" name="Google Shape;66;p22"/>
          <p:cNvSpPr/>
          <p:nvPr/>
        </p:nvSpPr>
        <p:spPr>
          <a:xfrm>
            <a:off x="0" y="0"/>
            <a:ext cx="4459705" cy="6858000"/>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 name="Google Shape;67;p22"/>
          <p:cNvSpPr/>
          <p:nvPr/>
        </p:nvSpPr>
        <p:spPr>
          <a:xfrm>
            <a:off x="970947" y="900877"/>
            <a:ext cx="3748474" cy="5056245"/>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68" name="Google Shape;68;p22"/>
          <p:cNvPicPr preferRelativeResize="0"/>
          <p:nvPr/>
        </p:nvPicPr>
        <p:blipFill rotWithShape="1">
          <a:blip r:embed="rId2">
            <a:alphaModFix/>
          </a:blip>
          <a:srcRect/>
          <a:stretch/>
        </p:blipFill>
        <p:spPr>
          <a:xfrm rot="-5400000" flipH="1">
            <a:off x="10929134" y="3487483"/>
            <a:ext cx="2392160" cy="133572"/>
          </a:xfrm>
          <a:prstGeom prst="rect">
            <a:avLst/>
          </a:prstGeom>
          <a:noFill/>
          <a:ln>
            <a:noFill/>
          </a:ln>
        </p:spPr>
      </p:pic>
      <p:sp>
        <p:nvSpPr>
          <p:cNvPr id="69" name="Google Shape;69;p22"/>
          <p:cNvSpPr txBox="1">
            <a:spLocks noGrp="1"/>
          </p:cNvSpPr>
          <p:nvPr>
            <p:ph type="title"/>
          </p:nvPr>
        </p:nvSpPr>
        <p:spPr>
          <a:xfrm>
            <a:off x="1477466" y="2219158"/>
            <a:ext cx="2805775" cy="16273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Arial"/>
              <a:buNone/>
              <a:defRPr sz="32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a:off x="1477466" y="4008906"/>
            <a:ext cx="2805775" cy="74639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lt1"/>
              </a:buClr>
              <a:buSzPts val="2800"/>
              <a:buChar char="•"/>
              <a:defRPr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71" name="Google Shape;71;p22"/>
          <p:cNvGrpSpPr/>
          <p:nvPr/>
        </p:nvGrpSpPr>
        <p:grpSpPr>
          <a:xfrm>
            <a:off x="10559057" y="6273209"/>
            <a:ext cx="1405046" cy="320981"/>
            <a:chOff x="8941676" y="5879067"/>
            <a:chExt cx="2618358" cy="598161"/>
          </a:xfrm>
        </p:grpSpPr>
        <p:sp>
          <p:nvSpPr>
            <p:cNvPr id="72" name="Google Shape;72;p22"/>
            <p:cNvSpPr/>
            <p:nvPr/>
          </p:nvSpPr>
          <p:spPr>
            <a:xfrm>
              <a:off x="8941676" y="5949980"/>
              <a:ext cx="1618615" cy="525145"/>
            </a:xfrm>
            <a:custGeom>
              <a:avLst/>
              <a:gdLst/>
              <a:ahLst/>
              <a:cxnLst/>
              <a:rect l="l" t="t" r="r" b="b"/>
              <a:pathLst>
                <a:path w="1618615" h="525145" extrusionOk="0">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extrusionOk="0">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extrusionOk="0">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extrusionOk="0">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22"/>
            <p:cNvSpPr/>
            <p:nvPr/>
          </p:nvSpPr>
          <p:spPr>
            <a:xfrm>
              <a:off x="10672317" y="5994129"/>
              <a:ext cx="388620" cy="482600"/>
            </a:xfrm>
            <a:custGeom>
              <a:avLst/>
              <a:gdLst/>
              <a:ahLst/>
              <a:cxnLst/>
              <a:rect l="l" t="t" r="r" b="b"/>
              <a:pathLst>
                <a:path w="388619" h="482600" extrusionOk="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74" name="Google Shape;74;p22"/>
            <p:cNvGrpSpPr/>
            <p:nvPr/>
          </p:nvGrpSpPr>
          <p:grpSpPr>
            <a:xfrm>
              <a:off x="11114331" y="5879067"/>
              <a:ext cx="445703" cy="598161"/>
              <a:chOff x="18406074" y="10234089"/>
              <a:chExt cx="445703" cy="598161"/>
            </a:xfrm>
          </p:grpSpPr>
          <p:sp>
            <p:nvSpPr>
              <p:cNvPr id="75" name="Google Shape;75;p22"/>
              <p:cNvSpPr/>
              <p:nvPr/>
            </p:nvSpPr>
            <p:spPr>
              <a:xfrm>
                <a:off x="18406074" y="10341395"/>
                <a:ext cx="376555" cy="490855"/>
              </a:xfrm>
              <a:custGeom>
                <a:avLst/>
                <a:gdLst/>
                <a:ahLst/>
                <a:cxnLst/>
                <a:rect l="l" t="t" r="r" b="b"/>
                <a:pathLst>
                  <a:path w="376555" h="490854" extrusionOk="0">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76" name="Google Shape;76;p22"/>
              <p:cNvPicPr preferRelativeResize="0"/>
              <p:nvPr/>
            </p:nvPicPr>
            <p:blipFill rotWithShape="1">
              <a:blip r:embed="rId3">
                <a:alphaModFix/>
              </a:blip>
              <a:srcRect/>
              <a:stretch/>
            </p:blipFill>
            <p:spPr>
              <a:xfrm>
                <a:off x="18739823" y="10234089"/>
                <a:ext cx="111954" cy="111944"/>
              </a:xfrm>
              <a:prstGeom prst="rect">
                <a:avLst/>
              </a:prstGeom>
              <a:noFill/>
              <a:ln>
                <a:noFill/>
              </a:ln>
            </p:spPr>
          </p:pic>
        </p:grpSp>
      </p:grpSp>
      <p:pic>
        <p:nvPicPr>
          <p:cNvPr id="77" name="Google Shape;77;p22"/>
          <p:cNvPicPr preferRelativeResize="0"/>
          <p:nvPr/>
        </p:nvPicPr>
        <p:blipFill rotWithShape="1">
          <a:blip r:embed="rId4">
            <a:alphaModFix/>
          </a:blip>
          <a:srcRect/>
          <a:stretch/>
        </p:blipFill>
        <p:spPr>
          <a:xfrm>
            <a:off x="460414" y="1315256"/>
            <a:ext cx="119084" cy="422748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ORTADA interior 3">
  <p:cSld name="PORTADA interior 3">
    <p:bg>
      <p:bgPr>
        <a:blipFill>
          <a:blip r:embed="rId2">
            <a:alphaModFix/>
          </a:blip>
          <a:stretch>
            <a:fillRect/>
          </a:stretch>
        </a:blipFill>
        <a:effectLst/>
      </p:bgPr>
    </p:bg>
    <p:spTree>
      <p:nvGrpSpPr>
        <p:cNvPr id="1" name="Shape 78"/>
        <p:cNvGrpSpPr/>
        <p:nvPr/>
      </p:nvGrpSpPr>
      <p:grpSpPr>
        <a:xfrm>
          <a:off x="0" y="0"/>
          <a:ext cx="0" cy="0"/>
          <a:chOff x="0" y="0"/>
          <a:chExt cx="0" cy="0"/>
        </a:xfrm>
      </p:grpSpPr>
      <p:sp>
        <p:nvSpPr>
          <p:cNvPr id="79" name="Google Shape;79;p23"/>
          <p:cNvSpPr/>
          <p:nvPr/>
        </p:nvSpPr>
        <p:spPr>
          <a:xfrm>
            <a:off x="7765159" y="2143668"/>
            <a:ext cx="3936955" cy="2845428"/>
          </a:xfrm>
          <a:prstGeom prst="rect">
            <a:avLst/>
          </a:prstGeom>
          <a:solidFill>
            <a:srgbClr val="FFFFFF">
              <a:alpha val="3098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 name="Google Shape;80;p23"/>
          <p:cNvSpPr/>
          <p:nvPr/>
        </p:nvSpPr>
        <p:spPr>
          <a:xfrm>
            <a:off x="7765160" y="2143669"/>
            <a:ext cx="342858" cy="342858"/>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1" name="Google Shape;81;p23"/>
          <p:cNvSpPr txBox="1">
            <a:spLocks noGrp="1"/>
          </p:cNvSpPr>
          <p:nvPr>
            <p:ph type="title"/>
          </p:nvPr>
        </p:nvSpPr>
        <p:spPr>
          <a:xfrm>
            <a:off x="8458521" y="2752716"/>
            <a:ext cx="2805775" cy="16273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Arial"/>
              <a:buNone/>
              <a:defRPr sz="32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3"/>
          <p:cNvSpPr/>
          <p:nvPr/>
        </p:nvSpPr>
        <p:spPr>
          <a:xfrm>
            <a:off x="0" y="2695073"/>
            <a:ext cx="1459832" cy="1467854"/>
          </a:xfrm>
          <a:prstGeom prst="rect">
            <a:avLst/>
          </a:prstGeom>
          <a:solidFill>
            <a:srgbClr val="4E7C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3" name="Google Shape;83;p23"/>
          <p:cNvSpPr txBox="1"/>
          <p:nvPr/>
        </p:nvSpPr>
        <p:spPr>
          <a:xfrm>
            <a:off x="-1" y="2752716"/>
            <a:ext cx="1459833" cy="1377184"/>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lt1"/>
              </a:buClr>
              <a:buSzPts val="8000"/>
              <a:buFont typeface="Arial"/>
              <a:buNone/>
            </a:pPr>
            <a:r>
              <a:rPr lang="es-ES" sz="8000" b="1">
                <a:solidFill>
                  <a:schemeClr val="lt1"/>
                </a:solidFill>
                <a:latin typeface="Arial"/>
                <a:ea typeface="Arial"/>
                <a:cs typeface="Arial"/>
                <a:sym typeface="Arial"/>
              </a:rPr>
              <a:t>04</a:t>
            </a:r>
            <a:endParaRPr sz="8000" b="1">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PA FINAL">
  <p:cSld name="TAPA FINAL">
    <p:spTree>
      <p:nvGrpSpPr>
        <p:cNvPr id="1" name="Shape 84"/>
        <p:cNvGrpSpPr/>
        <p:nvPr/>
      </p:nvGrpSpPr>
      <p:grpSpPr>
        <a:xfrm>
          <a:off x="0" y="0"/>
          <a:ext cx="0" cy="0"/>
          <a:chOff x="0" y="0"/>
          <a:chExt cx="0" cy="0"/>
        </a:xfrm>
      </p:grpSpPr>
      <p:sp>
        <p:nvSpPr>
          <p:cNvPr id="85" name="Google Shape;85;p24"/>
          <p:cNvSpPr/>
          <p:nvPr/>
        </p:nvSpPr>
        <p:spPr>
          <a:xfrm>
            <a:off x="0" y="1"/>
            <a:ext cx="12192000" cy="6858000"/>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86" name="Google Shape;86;p24"/>
          <p:cNvGrpSpPr/>
          <p:nvPr/>
        </p:nvGrpSpPr>
        <p:grpSpPr>
          <a:xfrm>
            <a:off x="2569595" y="5445627"/>
            <a:ext cx="7052811" cy="563479"/>
            <a:chOff x="1569453" y="5445627"/>
            <a:chExt cx="7052811" cy="563479"/>
          </a:xfrm>
        </p:grpSpPr>
        <p:pic>
          <p:nvPicPr>
            <p:cNvPr id="87" name="Google Shape;87;p24"/>
            <p:cNvPicPr preferRelativeResize="0"/>
            <p:nvPr/>
          </p:nvPicPr>
          <p:blipFill rotWithShape="1">
            <a:blip r:embed="rId2">
              <a:alphaModFix/>
            </a:blip>
            <a:srcRect/>
            <a:stretch/>
          </p:blipFill>
          <p:spPr>
            <a:xfrm>
              <a:off x="3569736" y="5445627"/>
              <a:ext cx="5052528" cy="563479"/>
            </a:xfrm>
            <a:prstGeom prst="rect">
              <a:avLst/>
            </a:prstGeom>
            <a:noFill/>
            <a:ln>
              <a:noFill/>
            </a:ln>
          </p:spPr>
        </p:pic>
        <p:pic>
          <p:nvPicPr>
            <p:cNvPr id="88" name="Google Shape;88;p24"/>
            <p:cNvPicPr preferRelativeResize="0"/>
            <p:nvPr/>
          </p:nvPicPr>
          <p:blipFill rotWithShape="1">
            <a:blip r:embed="rId3">
              <a:alphaModFix/>
            </a:blip>
            <a:srcRect/>
            <a:stretch/>
          </p:blipFill>
          <p:spPr>
            <a:xfrm>
              <a:off x="1569453" y="5505450"/>
              <a:ext cx="1331493" cy="443831"/>
            </a:xfrm>
            <a:prstGeom prst="rect">
              <a:avLst/>
            </a:prstGeom>
            <a:noFill/>
            <a:ln>
              <a:noFill/>
            </a:ln>
          </p:spPr>
        </p:pic>
      </p:grpSp>
      <p:pic>
        <p:nvPicPr>
          <p:cNvPr id="89" name="Google Shape;89;p24"/>
          <p:cNvPicPr preferRelativeResize="0"/>
          <p:nvPr/>
        </p:nvPicPr>
        <p:blipFill rotWithShape="1">
          <a:blip r:embed="rId4">
            <a:alphaModFix/>
          </a:blip>
          <a:srcRect/>
          <a:stretch/>
        </p:blipFill>
        <p:spPr>
          <a:xfrm>
            <a:off x="4097179" y="2291644"/>
            <a:ext cx="3997641" cy="129690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0"/>
        <p:cNvGrpSpPr/>
        <p:nvPr/>
      </p:nvGrpSpPr>
      <p:grpSpPr>
        <a:xfrm>
          <a:off x="0" y="0"/>
          <a:ext cx="0" cy="0"/>
          <a:chOff x="0" y="0"/>
          <a:chExt cx="0" cy="0"/>
        </a:xfrm>
      </p:grpSpPr>
      <p:sp>
        <p:nvSpPr>
          <p:cNvPr id="91" name="Google Shape;91;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3" name="Google Shape;9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6"/>
        <p:cNvGrpSpPr/>
        <p:nvPr/>
      </p:nvGrpSpPr>
      <p:grpSpPr>
        <a:xfrm>
          <a:off x="0" y="0"/>
          <a:ext cx="0" cy="0"/>
          <a:chOff x="0" y="0"/>
          <a:chExt cx="0" cy="0"/>
        </a:xfrm>
      </p:grpSpPr>
      <p:sp>
        <p:nvSpPr>
          <p:cNvPr id="97" name="Google Shape;97;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105" name="Google Shape;10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33"/>
          <p:cNvSpPr>
            <a:spLocks noGrp="1"/>
          </p:cNvSpPr>
          <p:nvPr>
            <p:ph type="pic" idx="2"/>
          </p:nvPr>
        </p:nvSpPr>
        <p:spPr>
          <a:xfrm>
            <a:off x="5183188" y="987425"/>
            <a:ext cx="6172200" cy="4873625"/>
          </a:xfrm>
          <a:prstGeom prst="rect">
            <a:avLst/>
          </a:prstGeom>
          <a:noFill/>
          <a:ln>
            <a:noFill/>
          </a:ln>
        </p:spPr>
      </p:sp>
      <p:sp>
        <p:nvSpPr>
          <p:cNvPr id="143" name="Google Shape;143;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abla" type="tbl">
  <p:cSld name="TABLE">
    <p:spTree>
      <p:nvGrpSpPr>
        <p:cNvPr id="1" name="Shape 159"/>
        <p:cNvGrpSpPr/>
        <p:nvPr/>
      </p:nvGrpSpPr>
      <p:grpSpPr>
        <a:xfrm>
          <a:off x="0" y="0"/>
          <a:ext cx="0" cy="0"/>
          <a:chOff x="0" y="0"/>
          <a:chExt cx="0" cy="0"/>
        </a:xfrm>
      </p:grpSpPr>
      <p:sp>
        <p:nvSpPr>
          <p:cNvPr id="160" name="Google Shape;160;p3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757575"/>
                </a:solidFill>
                <a:latin typeface="Arial"/>
                <a:ea typeface="Arial"/>
                <a:cs typeface="Arial"/>
                <a:sym typeface="Arial"/>
              </a:defRPr>
            </a:lvl1pPr>
            <a:lvl2pPr marL="0" lvl="1" indent="0" algn="r">
              <a:spcBef>
                <a:spcPts val="0"/>
              </a:spcBef>
              <a:buNone/>
              <a:defRPr sz="1200">
                <a:solidFill>
                  <a:srgbClr val="757575"/>
                </a:solidFill>
                <a:latin typeface="Arial"/>
                <a:ea typeface="Arial"/>
                <a:cs typeface="Arial"/>
                <a:sym typeface="Arial"/>
              </a:defRPr>
            </a:lvl2pPr>
            <a:lvl3pPr marL="0" lvl="2" indent="0" algn="r">
              <a:spcBef>
                <a:spcPts val="0"/>
              </a:spcBef>
              <a:buNone/>
              <a:defRPr sz="1200">
                <a:solidFill>
                  <a:srgbClr val="757575"/>
                </a:solidFill>
                <a:latin typeface="Arial"/>
                <a:ea typeface="Arial"/>
                <a:cs typeface="Arial"/>
                <a:sym typeface="Arial"/>
              </a:defRPr>
            </a:lvl3pPr>
            <a:lvl4pPr marL="0" lvl="3" indent="0" algn="r">
              <a:spcBef>
                <a:spcPts val="0"/>
              </a:spcBef>
              <a:buNone/>
              <a:defRPr sz="1200">
                <a:solidFill>
                  <a:srgbClr val="757575"/>
                </a:solidFill>
                <a:latin typeface="Arial"/>
                <a:ea typeface="Arial"/>
                <a:cs typeface="Arial"/>
                <a:sym typeface="Arial"/>
              </a:defRPr>
            </a:lvl4pPr>
            <a:lvl5pPr marL="0" lvl="4" indent="0" algn="r">
              <a:spcBef>
                <a:spcPts val="0"/>
              </a:spcBef>
              <a:buNone/>
              <a:defRPr sz="1200">
                <a:solidFill>
                  <a:srgbClr val="757575"/>
                </a:solidFill>
                <a:latin typeface="Arial"/>
                <a:ea typeface="Arial"/>
                <a:cs typeface="Arial"/>
                <a:sym typeface="Arial"/>
              </a:defRPr>
            </a:lvl5pPr>
            <a:lvl6pPr marL="0" lvl="5" indent="0" algn="r">
              <a:spcBef>
                <a:spcPts val="0"/>
              </a:spcBef>
              <a:buNone/>
              <a:defRPr sz="1200">
                <a:solidFill>
                  <a:srgbClr val="757575"/>
                </a:solidFill>
                <a:latin typeface="Arial"/>
                <a:ea typeface="Arial"/>
                <a:cs typeface="Arial"/>
                <a:sym typeface="Arial"/>
              </a:defRPr>
            </a:lvl6pPr>
            <a:lvl7pPr marL="0" lvl="6" indent="0" algn="r">
              <a:spcBef>
                <a:spcPts val="0"/>
              </a:spcBef>
              <a:buNone/>
              <a:defRPr sz="1200">
                <a:solidFill>
                  <a:srgbClr val="757575"/>
                </a:solidFill>
                <a:latin typeface="Arial"/>
                <a:ea typeface="Arial"/>
                <a:cs typeface="Arial"/>
                <a:sym typeface="Arial"/>
              </a:defRPr>
            </a:lvl7pPr>
            <a:lvl8pPr marL="0" lvl="7" indent="0" algn="r">
              <a:spcBef>
                <a:spcPts val="0"/>
              </a:spcBef>
              <a:buNone/>
              <a:defRPr sz="1200">
                <a:solidFill>
                  <a:srgbClr val="757575"/>
                </a:solidFill>
                <a:latin typeface="Arial"/>
                <a:ea typeface="Arial"/>
                <a:cs typeface="Arial"/>
                <a:sym typeface="Arial"/>
              </a:defRPr>
            </a:lvl8pPr>
            <a:lvl9pPr marL="0" lvl="8" indent="0" algn="r">
              <a:spcBef>
                <a:spcPts val="0"/>
              </a:spcBef>
              <a:buNone/>
              <a:defRPr sz="12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y contenido">
  <p:cSld name="Título y contenido">
    <p:bg>
      <p:bgPr>
        <a:solidFill>
          <a:schemeClr val="lt1"/>
        </a:solidFill>
        <a:effectLst/>
      </p:bgPr>
    </p:bg>
    <p:spTree>
      <p:nvGrpSpPr>
        <p:cNvPr id="1" name="Shape 164"/>
        <p:cNvGrpSpPr/>
        <p:nvPr/>
      </p:nvGrpSpPr>
      <p:grpSpPr>
        <a:xfrm>
          <a:off x="0" y="0"/>
          <a:ext cx="0" cy="0"/>
          <a:chOff x="0" y="0"/>
          <a:chExt cx="0" cy="0"/>
        </a:xfrm>
      </p:grpSpPr>
      <p:sp>
        <p:nvSpPr>
          <p:cNvPr id="165" name="Google Shape;165;p37"/>
          <p:cNvSpPr txBox="1">
            <a:spLocks noGrp="1"/>
          </p:cNvSpPr>
          <p:nvPr>
            <p:ph type="title"/>
          </p:nvPr>
        </p:nvSpPr>
        <p:spPr>
          <a:xfrm>
            <a:off x="1016000" y="269632"/>
            <a:ext cx="10769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37"/>
          <p:cNvSpPr txBox="1">
            <a:spLocks noGrp="1"/>
          </p:cNvSpPr>
          <p:nvPr>
            <p:ph type="body" idx="1"/>
          </p:nvPr>
        </p:nvSpPr>
        <p:spPr>
          <a:xfrm>
            <a:off x="1016000" y="1596413"/>
            <a:ext cx="10769600" cy="4297363"/>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atin typeface="Arial"/>
                <a:ea typeface="Arial"/>
                <a:cs typeface="Arial"/>
                <a:sym typeface="Arial"/>
              </a:defRPr>
            </a:lvl2pPr>
            <a:lvl3pPr marL="1371600" lvl="2" indent="-381000" algn="l">
              <a:lnSpc>
                <a:spcPct val="90000"/>
              </a:lnSpc>
              <a:spcBef>
                <a:spcPts val="500"/>
              </a:spcBef>
              <a:spcAft>
                <a:spcPts val="0"/>
              </a:spcAft>
              <a:buClr>
                <a:schemeClr val="dk1"/>
              </a:buClr>
              <a:buSzPts val="2400"/>
              <a:buChar char="•"/>
              <a:defRPr sz="2400">
                <a:latin typeface="Arial"/>
                <a:ea typeface="Arial"/>
                <a:cs typeface="Arial"/>
                <a:sym typeface="Arial"/>
              </a:defRPr>
            </a:lvl3pPr>
            <a:lvl4pPr marL="1828800" lvl="3" indent="-381000" algn="l">
              <a:lnSpc>
                <a:spcPct val="90000"/>
              </a:lnSpc>
              <a:spcBef>
                <a:spcPts val="500"/>
              </a:spcBef>
              <a:spcAft>
                <a:spcPts val="0"/>
              </a:spcAft>
              <a:buClr>
                <a:schemeClr val="dk1"/>
              </a:buClr>
              <a:buSzPts val="2400"/>
              <a:buChar char="•"/>
              <a:defRPr sz="2400">
                <a:latin typeface="Arial"/>
                <a:ea typeface="Arial"/>
                <a:cs typeface="Arial"/>
                <a:sym typeface="Arial"/>
              </a:defRPr>
            </a:lvl4pPr>
            <a:lvl5pPr marL="2286000" lvl="4" indent="-381000" algn="l">
              <a:lnSpc>
                <a:spcPct val="90000"/>
              </a:lnSpc>
              <a:spcBef>
                <a:spcPts val="500"/>
              </a:spcBef>
              <a:spcAft>
                <a:spcPts val="0"/>
              </a:spcAft>
              <a:buClr>
                <a:schemeClr val="dk1"/>
              </a:buClr>
              <a:buSzPts val="2400"/>
              <a:buChar char="•"/>
              <a:defRPr sz="2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7" name="Google Shape;167;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37"/>
          <p:cNvSpPr txBox="1">
            <a:spLocks noGrp="1"/>
          </p:cNvSpPr>
          <p:nvPr>
            <p:ph type="sldNum" idx="12"/>
          </p:nvPr>
        </p:nvSpPr>
        <p:spPr>
          <a:xfrm>
            <a:off x="89408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di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0"/>
        <p:cNvGrpSpPr/>
        <p:nvPr/>
      </p:nvGrpSpPr>
      <p:grpSpPr>
        <a:xfrm>
          <a:off x="0" y="0"/>
          <a:ext cx="0" cy="0"/>
          <a:chOff x="0" y="0"/>
          <a:chExt cx="0" cy="0"/>
        </a:xfrm>
      </p:grpSpPr>
      <p:sp>
        <p:nvSpPr>
          <p:cNvPr id="171" name="Google Shape;171;p38"/>
          <p:cNvSpPr txBox="1">
            <a:spLocks noGrp="1"/>
          </p:cNvSpPr>
          <p:nvPr>
            <p:ph type="title"/>
          </p:nvPr>
        </p:nvSpPr>
        <p:spPr>
          <a:xfrm>
            <a:off x="838200" y="365125"/>
            <a:ext cx="10515600" cy="1325563"/>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2730"/>
              <a:buFont typeface="Play"/>
              <a:buNone/>
              <a:defRPr sz="2730" b="1" i="0">
                <a:solidFill>
                  <a:schemeClr val="dk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38"/>
          <p:cNvSpPr txBox="1">
            <a:spLocks noGrp="1"/>
          </p:cNvSpPr>
          <p:nvPr>
            <p:ph type="ftr" idx="11"/>
          </p:nvPr>
        </p:nvSpPr>
        <p:spPr>
          <a:xfrm>
            <a:off x="4038600" y="6356350"/>
            <a:ext cx="41148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38"/>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38"/>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ES"/>
              <a:t>‹Nº›</a:t>
            </a:fld>
            <a:endParaRPr sz="1200">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TERIOR 1">
    <p:spTree>
      <p:nvGrpSpPr>
        <p:cNvPr id="1" name=""/>
        <p:cNvGrpSpPr/>
        <p:nvPr/>
      </p:nvGrpSpPr>
      <p:grpSpPr>
        <a:xfrm>
          <a:off x="0" y="0"/>
          <a:ext cx="0" cy="0"/>
          <a:chOff x="0" y="0"/>
          <a:chExt cx="0" cy="0"/>
        </a:xfrm>
      </p:grpSpPr>
      <p:sp>
        <p:nvSpPr>
          <p:cNvPr id="6" name="Marcador de texto 26">
            <a:extLst>
              <a:ext uri="{FF2B5EF4-FFF2-40B4-BE49-F238E27FC236}">
                <a16:creationId xmlns:a16="http://schemas.microsoft.com/office/drawing/2014/main" id="{3387B960-FFF9-CB57-ACA9-C9E1213259F5}"/>
              </a:ext>
            </a:extLst>
          </p:cNvPr>
          <p:cNvSpPr>
            <a:spLocks noGrp="1"/>
          </p:cNvSpPr>
          <p:nvPr>
            <p:ph type="body" sz="quarter" idx="13" hasCustomPrompt="1"/>
          </p:nvPr>
        </p:nvSpPr>
        <p:spPr>
          <a:xfrm>
            <a:off x="654685" y="551041"/>
            <a:ext cx="4916775" cy="469685"/>
          </a:xfrm>
        </p:spPr>
        <p:txBody>
          <a:bodyPr>
            <a:noAutofit/>
          </a:bodyPr>
          <a:lstStyle>
            <a:lvl1pPr algn="l">
              <a:defRPr sz="3200" b="1">
                <a:solidFill>
                  <a:schemeClr val="tx1"/>
                </a:solidFill>
                <a:latin typeface="Arial" panose="020B0604020202020204" pitchFamily="34" charset="0"/>
                <a:cs typeface="Arial" panose="020B0604020202020204" pitchFamily="34" charset="0"/>
              </a:defRPr>
            </a:lvl1pPr>
          </a:lstStyle>
          <a:p>
            <a:r>
              <a:rPr lang="es-ES"/>
              <a:t>MODIFICAR TITULO</a:t>
            </a:r>
            <a:endParaRPr lang="es-CL"/>
          </a:p>
        </p:txBody>
      </p:sp>
      <p:sp>
        <p:nvSpPr>
          <p:cNvPr id="7" name="Marcador de texto 3">
            <a:extLst>
              <a:ext uri="{FF2B5EF4-FFF2-40B4-BE49-F238E27FC236}">
                <a16:creationId xmlns:a16="http://schemas.microsoft.com/office/drawing/2014/main" id="{149A11D1-EAA1-0BB7-CFE5-9056CB346D13}"/>
              </a:ext>
            </a:extLst>
          </p:cNvPr>
          <p:cNvSpPr>
            <a:spLocks noGrp="1"/>
          </p:cNvSpPr>
          <p:nvPr>
            <p:ph type="body" sz="quarter" idx="14" hasCustomPrompt="1"/>
          </p:nvPr>
        </p:nvSpPr>
        <p:spPr>
          <a:xfrm>
            <a:off x="640715" y="1137571"/>
            <a:ext cx="4930746" cy="553006"/>
          </a:xfrm>
        </p:spPr>
        <p:txBody>
          <a:bodyPr>
            <a:normAutofit/>
          </a:bodyPr>
          <a:lstStyle>
            <a:lvl1pPr>
              <a:defRPr sz="1400">
                <a:latin typeface="Arial" panose="020B0604020202020204" pitchFamily="34" charset="0"/>
                <a:cs typeface="Arial" panose="020B0604020202020204" pitchFamily="34" charset="0"/>
              </a:defRPr>
            </a:lvl1pPr>
          </a:lstStyle>
          <a:p>
            <a:r>
              <a:rPr lang="es-ES"/>
              <a:t>Haz clic para modificar o eliminar bajada</a:t>
            </a:r>
          </a:p>
          <a:p>
            <a:endParaRPr lang="es-ES"/>
          </a:p>
        </p:txBody>
      </p:sp>
      <p:sp>
        <p:nvSpPr>
          <p:cNvPr id="8" name="Rectángulo 7">
            <a:extLst>
              <a:ext uri="{FF2B5EF4-FFF2-40B4-BE49-F238E27FC236}">
                <a16:creationId xmlns:a16="http://schemas.microsoft.com/office/drawing/2014/main" id="{D4BF3825-8CDE-15D1-473C-F04253CD9789}"/>
              </a:ext>
            </a:extLst>
          </p:cNvPr>
          <p:cNvSpPr/>
          <p:nvPr userDrawn="1"/>
        </p:nvSpPr>
        <p:spPr>
          <a:xfrm>
            <a:off x="0" y="0"/>
            <a:ext cx="552893" cy="552893"/>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DBF54666-A2EC-90FE-7052-73357A52AE9A}"/>
              </a:ext>
            </a:extLst>
          </p:cNvPr>
          <p:cNvGrpSpPr/>
          <p:nvPr userDrawn="1"/>
        </p:nvGrpSpPr>
        <p:grpSpPr>
          <a:xfrm>
            <a:off x="10559057" y="6273209"/>
            <a:ext cx="1405082" cy="320986"/>
            <a:chOff x="8941676" y="5879067"/>
            <a:chExt cx="2618425" cy="598170"/>
          </a:xfrm>
        </p:grpSpPr>
        <p:sp>
          <p:nvSpPr>
            <p:cNvPr id="9" name="object 2">
              <a:extLst>
                <a:ext uri="{FF2B5EF4-FFF2-40B4-BE49-F238E27FC236}">
                  <a16:creationId xmlns:a16="http://schemas.microsoft.com/office/drawing/2014/main" id="{371A0572-EF4B-CA79-4539-AA0A2E4CD96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a:p>
          </p:txBody>
        </p:sp>
        <p:sp>
          <p:nvSpPr>
            <p:cNvPr id="10" name="object 3">
              <a:extLst>
                <a:ext uri="{FF2B5EF4-FFF2-40B4-BE49-F238E27FC236}">
                  <a16:creationId xmlns:a16="http://schemas.microsoft.com/office/drawing/2014/main" id="{1BA993DD-B802-B0F6-BB6C-691D8C644DF2}"/>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1" name="object 4">
              <a:extLst>
                <a:ext uri="{FF2B5EF4-FFF2-40B4-BE49-F238E27FC236}">
                  <a16:creationId xmlns:a16="http://schemas.microsoft.com/office/drawing/2014/main" id="{C3421982-2587-852B-E105-195C0E7D9D9F}"/>
                </a:ext>
              </a:extLst>
            </p:cNvPr>
            <p:cNvGrpSpPr/>
            <p:nvPr userDrawn="1"/>
          </p:nvGrpSpPr>
          <p:grpSpPr>
            <a:xfrm>
              <a:off x="11114331" y="5879067"/>
              <a:ext cx="445770" cy="598170"/>
              <a:chOff x="18406074" y="10234089"/>
              <a:chExt cx="445770" cy="598170"/>
            </a:xfrm>
          </p:grpSpPr>
          <p:sp>
            <p:nvSpPr>
              <p:cNvPr id="12" name="object 5">
                <a:extLst>
                  <a:ext uri="{FF2B5EF4-FFF2-40B4-BE49-F238E27FC236}">
                    <a16:creationId xmlns:a16="http://schemas.microsoft.com/office/drawing/2014/main" id="{7422255E-C44F-6988-4785-AAC71FA19F3B}"/>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3" name="object 6">
                <a:extLst>
                  <a:ext uri="{FF2B5EF4-FFF2-40B4-BE49-F238E27FC236}">
                    <a16:creationId xmlns:a16="http://schemas.microsoft.com/office/drawing/2014/main" id="{C9735AE4-9BC0-BA7F-18A3-3B4538726A97}"/>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3" name="Imagen 2">
            <a:extLst>
              <a:ext uri="{FF2B5EF4-FFF2-40B4-BE49-F238E27FC236}">
                <a16:creationId xmlns:a16="http://schemas.microsoft.com/office/drawing/2014/main" id="{0B8A2F42-00CA-3BF5-D8D0-4B68FE7E8824}"/>
              </a:ext>
            </a:extLst>
          </p:cNvPr>
          <p:cNvPicPr>
            <a:picLocks noChangeAspect="1"/>
          </p:cNvPicPr>
          <p:nvPr userDrawn="1"/>
        </p:nvPicPr>
        <p:blipFill>
          <a:blip r:embed="rId3"/>
          <a:stretch>
            <a:fillRect/>
          </a:stretch>
        </p:blipFill>
        <p:spPr>
          <a:xfrm rot="5400000">
            <a:off x="2714468" y="4342374"/>
            <a:ext cx="119408" cy="4238978"/>
          </a:xfrm>
          <a:prstGeom prst="rect">
            <a:avLst/>
          </a:prstGeom>
        </p:spPr>
      </p:pic>
    </p:spTree>
    <p:extLst>
      <p:ext uri="{BB962C8B-B14F-4D97-AF65-F5344CB8AC3E}">
        <p14:creationId xmlns:p14="http://schemas.microsoft.com/office/powerpoint/2010/main" val="31080228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6"/>
        <p:cNvGrpSpPr/>
        <p:nvPr/>
      </p:nvGrpSpPr>
      <p:grpSpPr>
        <a:xfrm>
          <a:off x="0" y="0"/>
          <a:ext cx="0" cy="0"/>
          <a:chOff x="0" y="0"/>
          <a:chExt cx="0" cy="0"/>
        </a:xfrm>
      </p:grpSpPr>
      <p:sp>
        <p:nvSpPr>
          <p:cNvPr id="27" name="Google Shape;27;p35"/>
          <p:cNvSpPr txBox="1">
            <a:spLocks noGrp="1"/>
          </p:cNvSpPr>
          <p:nvPr>
            <p:ph type="title"/>
          </p:nvPr>
        </p:nvSpPr>
        <p:spPr>
          <a:xfrm>
            <a:off x="1474901" y="433330"/>
            <a:ext cx="10302421" cy="40312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1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5"/>
          <p:cNvSpPr/>
          <p:nvPr/>
        </p:nvSpPr>
        <p:spPr>
          <a:xfrm>
            <a:off x="-3851" y="397869"/>
            <a:ext cx="1360529" cy="643058"/>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lvl="0" indent="0" algn="l" rtl="0">
              <a:spcBef>
                <a:spcPts val="0"/>
              </a:spcBef>
              <a:spcAft>
                <a:spcPts val="0"/>
              </a:spcAft>
              <a:buNone/>
            </a:pPr>
            <a:endParaRPr sz="1092"/>
          </a:p>
        </p:txBody>
      </p:sp>
      <p:sp>
        <p:nvSpPr>
          <p:cNvPr id="29" name="Google Shape;29;p35"/>
          <p:cNvSpPr/>
          <p:nvPr/>
        </p:nvSpPr>
        <p:spPr>
          <a:xfrm>
            <a:off x="10272195" y="6186690"/>
            <a:ext cx="955797" cy="309977"/>
          </a:xfrm>
          <a:custGeom>
            <a:avLst/>
            <a:gdLst/>
            <a:ahLst/>
            <a:cxnLst/>
            <a:rect l="l" t="t" r="r" b="b"/>
            <a:pathLst>
              <a:path w="1576069"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extrusionOk="0">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extrusionOk="0">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extrusionOk="0">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092"/>
          </a:p>
        </p:txBody>
      </p:sp>
      <p:sp>
        <p:nvSpPr>
          <p:cNvPr id="30" name="Google Shape;30;p35"/>
          <p:cNvSpPr/>
          <p:nvPr/>
        </p:nvSpPr>
        <p:spPr>
          <a:xfrm>
            <a:off x="11294124" y="6212763"/>
            <a:ext cx="229515" cy="284948"/>
          </a:xfrm>
          <a:custGeom>
            <a:avLst/>
            <a:gdLst/>
            <a:ahLst/>
            <a:cxnLst/>
            <a:rect l="l" t="t" r="r" b="b"/>
            <a:pathLst>
              <a:path w="378459"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092"/>
          </a:p>
        </p:txBody>
      </p:sp>
      <p:grpSp>
        <p:nvGrpSpPr>
          <p:cNvPr id="31" name="Google Shape;31;p35"/>
          <p:cNvGrpSpPr/>
          <p:nvPr/>
        </p:nvGrpSpPr>
        <p:grpSpPr>
          <a:xfrm>
            <a:off x="11555125" y="6135384"/>
            <a:ext cx="258960" cy="362374"/>
            <a:chOff x="19053919" y="10117702"/>
            <a:chExt cx="427015" cy="597582"/>
          </a:xfrm>
        </p:grpSpPr>
        <p:sp>
          <p:nvSpPr>
            <p:cNvPr id="32" name="Google Shape;32;p35"/>
            <p:cNvSpPr/>
            <p:nvPr/>
          </p:nvSpPr>
          <p:spPr>
            <a:xfrm>
              <a:off x="19053919" y="10237764"/>
              <a:ext cx="366395"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092"/>
            </a:p>
          </p:txBody>
        </p:sp>
        <p:pic>
          <p:nvPicPr>
            <p:cNvPr id="33" name="Google Shape;33;p35"/>
            <p:cNvPicPr preferRelativeResize="0"/>
            <p:nvPr/>
          </p:nvPicPr>
          <p:blipFill rotWithShape="1">
            <a:blip r:embed="rId2">
              <a:alphaModFix/>
            </a:blip>
            <a:srcRect/>
            <a:stretch/>
          </p:blipFill>
          <p:spPr>
            <a:xfrm>
              <a:off x="19368634" y="10117702"/>
              <a:ext cx="112300" cy="112268"/>
            </a:xfrm>
            <a:prstGeom prst="rect">
              <a:avLst/>
            </a:prstGeom>
            <a:noFill/>
            <a:ln>
              <a:noFill/>
            </a:ln>
          </p:spPr>
        </p:pic>
      </p:grpSp>
    </p:spTree>
    <p:extLst>
      <p:ext uri="{BB962C8B-B14F-4D97-AF65-F5344CB8AC3E}">
        <p14:creationId xmlns:p14="http://schemas.microsoft.com/office/powerpoint/2010/main" val="243917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3" name="Título 2">
            <a:extLst>
              <a:ext uri="{FF2B5EF4-FFF2-40B4-BE49-F238E27FC236}">
                <a16:creationId xmlns:a16="http://schemas.microsoft.com/office/drawing/2014/main" id="{11C7007E-372C-E13B-8AD7-2DF6C53CF007}"/>
              </a:ext>
            </a:extLst>
          </p:cNvPr>
          <p:cNvSpPr>
            <a:spLocks noGrp="1"/>
          </p:cNvSpPr>
          <p:nvPr>
            <p:ph type="title"/>
          </p:nvPr>
        </p:nvSpPr>
        <p:spPr>
          <a:xfrm>
            <a:off x="6905913" y="2324320"/>
            <a:ext cx="4377817" cy="1306054"/>
          </a:xfrm>
        </p:spPr>
        <p:txBody>
          <a:bodyPr spcFirstLastPara="1" wrap="square" lIns="91425" tIns="45700" rIns="91425" bIns="45700" anchor="ctr" anchorCtr="0">
            <a:noAutofit/>
          </a:bodyPr>
          <a:lstStyle/>
          <a:p>
            <a:r>
              <a:rPr lang="es-ES" sz="3600" dirty="0"/>
              <a:t>DATOS ATÍPICOS (OUTLIERS)</a:t>
            </a:r>
          </a:p>
        </p:txBody>
      </p:sp>
      <p:sp>
        <p:nvSpPr>
          <p:cNvPr id="4" name="Subtítulo 2">
            <a:extLst>
              <a:ext uri="{FF2B5EF4-FFF2-40B4-BE49-F238E27FC236}">
                <a16:creationId xmlns:a16="http://schemas.microsoft.com/office/drawing/2014/main" id="{74C79772-4F2B-0631-AEB4-ED8B13764062}"/>
              </a:ext>
            </a:extLst>
          </p:cNvPr>
          <p:cNvSpPr>
            <a:spLocks noGrp="1"/>
          </p:cNvSpPr>
          <p:nvPr/>
        </p:nvSpPr>
        <p:spPr>
          <a:xfrm>
            <a:off x="6719571" y="4364883"/>
            <a:ext cx="4356341" cy="221599"/>
          </a:xfrm>
          <a:prstGeom prst="rect">
            <a:avLst/>
          </a:prstGeom>
        </p:spPr>
        <p:txBody>
          <a:bodyPr vert="horz" wrap="square" lIns="0" tIns="0" rIns="0" bIns="0" rtlCol="0" anchor="t">
            <a:spAutoFit/>
          </a:bodyPr>
          <a:lstStyle>
            <a:defPPr>
              <a:defRPr lang="es-CL"/>
            </a:defPPr>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s-CL" sz="1600" b="1" i="1" dirty="0">
                <a:latin typeface="Bierstadt Display"/>
                <a:cs typeface="Arial"/>
              </a:rPr>
              <a:t>ADY1100 </a:t>
            </a:r>
            <a:r>
              <a:rPr lang="es-CL" sz="1600" i="1" dirty="0">
                <a:latin typeface="Bierstadt Display"/>
                <a:cs typeface="Arial"/>
              </a:rPr>
              <a:t>– Preprocesamiento de datos</a:t>
            </a:r>
            <a:endParaRPr lang="es-CL" sz="1600" i="1" dirty="0">
              <a:latin typeface="Bierstad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
          <p:cNvSpPr txBox="1">
            <a:spLocks noGrp="1"/>
          </p:cNvSpPr>
          <p:nvPr>
            <p:ph type="body" idx="1"/>
          </p:nvPr>
        </p:nvSpPr>
        <p:spPr>
          <a:xfrm>
            <a:off x="921880" y="382807"/>
            <a:ext cx="4916775" cy="46968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s-ES" dirty="0"/>
              <a:t>Introducción</a:t>
            </a:r>
            <a:endParaRPr/>
          </a:p>
          <a:p>
            <a:pPr marL="0" lvl="0" indent="0" algn="l" rtl="0">
              <a:lnSpc>
                <a:spcPct val="90000"/>
              </a:lnSpc>
              <a:spcBef>
                <a:spcPts val="1000"/>
              </a:spcBef>
              <a:spcAft>
                <a:spcPts val="0"/>
              </a:spcAft>
              <a:buClr>
                <a:schemeClr val="dk1"/>
              </a:buClr>
              <a:buSzPts val="3200"/>
              <a:buNone/>
            </a:pPr>
            <a:endParaRPr/>
          </a:p>
        </p:txBody>
      </p:sp>
      <p:sp>
        <p:nvSpPr>
          <p:cNvPr id="190" name="Google Shape;190;p3"/>
          <p:cNvSpPr txBox="1">
            <a:spLocks noGrp="1"/>
          </p:cNvSpPr>
          <p:nvPr>
            <p:ph type="body" idx="2"/>
          </p:nvPr>
        </p:nvSpPr>
        <p:spPr>
          <a:xfrm>
            <a:off x="441293" y="1329308"/>
            <a:ext cx="6332384" cy="4007700"/>
          </a:xfrm>
          <a:prstGeom prst="rect">
            <a:avLst/>
          </a:prstGeom>
          <a:noFill/>
          <a:ln>
            <a:noFill/>
          </a:ln>
        </p:spPr>
        <p:txBody>
          <a:bodyPr spcFirstLastPara="1" wrap="square" lIns="91425" tIns="45700" rIns="91425" bIns="45700" anchor="t" anchorCtr="0">
            <a:noAutofit/>
          </a:bodyPr>
          <a:lstStyle/>
          <a:p>
            <a:pPr marL="457200" lvl="0" indent="-368300" algn="just" rtl="0">
              <a:lnSpc>
                <a:spcPct val="90000"/>
              </a:lnSpc>
              <a:spcBef>
                <a:spcPts val="0"/>
              </a:spcBef>
              <a:spcAft>
                <a:spcPts val="0"/>
              </a:spcAft>
              <a:buSzPts val="2200"/>
              <a:buChar char="•"/>
            </a:pPr>
            <a:r>
              <a:rPr lang="es-ES" sz="2200" dirty="0">
                <a:latin typeface="Aptos"/>
              </a:rPr>
              <a:t>Al modelar, es importante limpiar la muestra de datos, para asegurarse de que las observaciones representen de la mejor manera el problema.</a:t>
            </a:r>
          </a:p>
          <a:p>
            <a:pPr marL="457200" lvl="0" indent="0" algn="just" rtl="0">
              <a:lnSpc>
                <a:spcPct val="90000"/>
              </a:lnSpc>
              <a:spcBef>
                <a:spcPts val="0"/>
              </a:spcBef>
              <a:spcAft>
                <a:spcPts val="0"/>
              </a:spcAft>
              <a:buNone/>
            </a:pPr>
            <a:endParaRPr sz="2200" dirty="0">
              <a:latin typeface="Aptos"/>
            </a:endParaRPr>
          </a:p>
          <a:p>
            <a:pPr marL="457200" lvl="0" indent="-368300" algn="just" rtl="0">
              <a:lnSpc>
                <a:spcPct val="90000"/>
              </a:lnSpc>
              <a:spcBef>
                <a:spcPts val="0"/>
              </a:spcBef>
              <a:spcAft>
                <a:spcPts val="0"/>
              </a:spcAft>
              <a:buSzPts val="2200"/>
              <a:buChar char="•"/>
            </a:pPr>
            <a:r>
              <a:rPr lang="es-ES" sz="2200" dirty="0">
                <a:latin typeface="Aptos"/>
              </a:rPr>
              <a:t>A veces, un conjunto de datos puede contener valores extremos que están</a:t>
            </a:r>
            <a:r>
              <a:rPr lang="es-ES" sz="2200" b="1" dirty="0">
                <a:solidFill>
                  <a:srgbClr val="FFFFFF"/>
                </a:solidFill>
                <a:latin typeface="Aptos"/>
              </a:rPr>
              <a:t> </a:t>
            </a:r>
            <a:r>
              <a:rPr lang="es-ES" sz="2200" b="1" dirty="0">
                <a:solidFill>
                  <a:srgbClr val="0070C0"/>
                </a:solidFill>
                <a:latin typeface="Aptos"/>
              </a:rPr>
              <a:t>fuera del rango de lo esperado</a:t>
            </a:r>
            <a:r>
              <a:rPr lang="es-ES" sz="2200" dirty="0">
                <a:solidFill>
                  <a:srgbClr val="0070C0"/>
                </a:solidFill>
                <a:latin typeface="Aptos"/>
              </a:rPr>
              <a:t> </a:t>
            </a:r>
            <a:r>
              <a:rPr lang="es-ES" sz="2200" dirty="0">
                <a:latin typeface="Aptos"/>
              </a:rPr>
              <a:t>y que son diferentes del resto.</a:t>
            </a:r>
            <a:endParaRPr sz="2200" dirty="0">
              <a:latin typeface="Aptos"/>
            </a:endParaRPr>
          </a:p>
          <a:p>
            <a:pPr marL="457200" lvl="0" indent="0" algn="just" rtl="0">
              <a:lnSpc>
                <a:spcPct val="90000"/>
              </a:lnSpc>
              <a:spcBef>
                <a:spcPts val="0"/>
              </a:spcBef>
              <a:spcAft>
                <a:spcPts val="0"/>
              </a:spcAft>
              <a:buNone/>
            </a:pPr>
            <a:endParaRPr sz="2200" dirty="0">
              <a:latin typeface="Aptos"/>
            </a:endParaRPr>
          </a:p>
          <a:p>
            <a:pPr marL="457200" lvl="0" indent="-368300" algn="just" rtl="0">
              <a:lnSpc>
                <a:spcPct val="90000"/>
              </a:lnSpc>
              <a:spcBef>
                <a:spcPts val="0"/>
              </a:spcBef>
              <a:spcAft>
                <a:spcPts val="0"/>
              </a:spcAft>
              <a:buSzPts val="2200"/>
              <a:buChar char="•"/>
            </a:pPr>
            <a:r>
              <a:rPr lang="es-ES" sz="2200" dirty="0">
                <a:latin typeface="Aptos"/>
              </a:rPr>
              <a:t>Estos se denominan valores atípicos (</a:t>
            </a:r>
            <a:r>
              <a:rPr lang="es-ES" sz="2200" err="1">
                <a:latin typeface="Aptos"/>
              </a:rPr>
              <a:t>outliers</a:t>
            </a:r>
            <a:r>
              <a:rPr lang="es-ES" sz="2200" dirty="0">
                <a:latin typeface="Aptos"/>
              </a:rPr>
              <a:t>) y, a menudo, la modelización de aprendizaje automático y la habilidad del modelo en general pueden mejorarse comprendiendo e incluso eliminando estos valores atípicos.</a:t>
            </a:r>
            <a:endParaRPr sz="2200" dirty="0">
              <a:latin typeface="Aptos"/>
            </a:endParaRPr>
          </a:p>
        </p:txBody>
      </p:sp>
      <p:pic>
        <p:nvPicPr>
          <p:cNvPr id="191" name="Google Shape;191;p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7196019" y="1254463"/>
            <a:ext cx="4530314" cy="4082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1fbf7af212_0_4"/>
          <p:cNvSpPr txBox="1">
            <a:spLocks noGrp="1"/>
          </p:cNvSpPr>
          <p:nvPr>
            <p:ph type="body" idx="1"/>
          </p:nvPr>
        </p:nvSpPr>
        <p:spPr>
          <a:xfrm>
            <a:off x="921880" y="382807"/>
            <a:ext cx="4916700" cy="469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3200"/>
              <a:buNone/>
            </a:pPr>
            <a:r>
              <a:rPr lang="es-ES" dirty="0"/>
              <a:t>Introducción</a:t>
            </a:r>
            <a:endParaRPr/>
          </a:p>
          <a:p>
            <a:pPr marL="0" lvl="0" indent="0" algn="l" rtl="0">
              <a:lnSpc>
                <a:spcPct val="90000"/>
              </a:lnSpc>
              <a:spcBef>
                <a:spcPts val="1000"/>
              </a:spcBef>
              <a:spcAft>
                <a:spcPts val="0"/>
              </a:spcAft>
              <a:buClr>
                <a:schemeClr val="dk1"/>
              </a:buClr>
              <a:buSzPts val="3200"/>
              <a:buNone/>
            </a:pPr>
            <a:endParaRPr/>
          </a:p>
        </p:txBody>
      </p:sp>
      <p:sp>
        <p:nvSpPr>
          <p:cNvPr id="197" name="Google Shape;197;g31fbf7af212_0_4"/>
          <p:cNvSpPr txBox="1">
            <a:spLocks noGrp="1"/>
          </p:cNvSpPr>
          <p:nvPr>
            <p:ph type="body" idx="2"/>
          </p:nvPr>
        </p:nvSpPr>
        <p:spPr>
          <a:xfrm>
            <a:off x="584318" y="1210775"/>
            <a:ext cx="6448800" cy="2425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s-ES" sz="2000" dirty="0">
                <a:latin typeface="Aptos"/>
              </a:rPr>
              <a:t>Los valores atípicos pueden tener muchas causas:</a:t>
            </a:r>
            <a:endParaRPr sz="2000" dirty="0">
              <a:latin typeface="Aptos"/>
            </a:endParaRPr>
          </a:p>
          <a:p>
            <a:pPr marL="457200" lvl="0" indent="-298450" algn="l" rtl="0">
              <a:lnSpc>
                <a:spcPct val="115000"/>
              </a:lnSpc>
              <a:spcBef>
                <a:spcPts val="1200"/>
              </a:spcBef>
              <a:spcAft>
                <a:spcPts val="0"/>
              </a:spcAft>
              <a:buSzPts val="1100"/>
              <a:buChar char="●"/>
            </a:pPr>
            <a:r>
              <a:rPr lang="es-ES" sz="2000" dirty="0">
                <a:latin typeface="Aptos"/>
              </a:rPr>
              <a:t>Error de medición o entrada de datos.</a:t>
            </a:r>
            <a:endParaRPr sz="2000" dirty="0">
              <a:latin typeface="Aptos"/>
            </a:endParaRPr>
          </a:p>
          <a:p>
            <a:pPr marL="457200" lvl="0" indent="-298450" algn="l" rtl="0">
              <a:lnSpc>
                <a:spcPct val="115000"/>
              </a:lnSpc>
              <a:spcBef>
                <a:spcPts val="0"/>
              </a:spcBef>
              <a:spcAft>
                <a:spcPts val="0"/>
              </a:spcAft>
              <a:buSzPts val="1100"/>
              <a:buChar char="●"/>
            </a:pPr>
            <a:r>
              <a:rPr lang="es-ES" sz="2000" dirty="0">
                <a:latin typeface="Aptos"/>
              </a:rPr>
              <a:t>Corrupción de los datos.</a:t>
            </a:r>
            <a:endParaRPr sz="2000" dirty="0">
              <a:latin typeface="Aptos"/>
            </a:endParaRPr>
          </a:p>
          <a:p>
            <a:pPr marL="457200" lvl="0" indent="-298450" algn="l" rtl="0">
              <a:lnSpc>
                <a:spcPct val="115000"/>
              </a:lnSpc>
              <a:spcBef>
                <a:spcPts val="0"/>
              </a:spcBef>
              <a:spcAft>
                <a:spcPts val="0"/>
              </a:spcAft>
              <a:buSzPts val="1100"/>
              <a:buChar char="●"/>
            </a:pPr>
            <a:r>
              <a:rPr lang="es-ES" sz="2000" dirty="0">
                <a:latin typeface="Aptos"/>
              </a:rPr>
              <a:t>Observación de un valor atípico verdadero.</a:t>
            </a:r>
            <a:endParaRPr sz="2000" dirty="0">
              <a:latin typeface="Aptos"/>
            </a:endParaRPr>
          </a:p>
          <a:p>
            <a:pPr marL="457200" lvl="0" indent="0" algn="just" rtl="0">
              <a:lnSpc>
                <a:spcPct val="90000"/>
              </a:lnSpc>
              <a:spcBef>
                <a:spcPts val="1200"/>
              </a:spcBef>
              <a:spcAft>
                <a:spcPts val="0"/>
              </a:spcAft>
              <a:buNone/>
            </a:pPr>
            <a:endParaRPr sz="2000">
              <a:latin typeface="Aptos"/>
            </a:endParaRPr>
          </a:p>
        </p:txBody>
      </p:sp>
      <p:sp>
        <p:nvSpPr>
          <p:cNvPr id="198" name="Google Shape;198;g31fbf7af212_0_4"/>
          <p:cNvSpPr txBox="1"/>
          <p:nvPr/>
        </p:nvSpPr>
        <p:spPr>
          <a:xfrm>
            <a:off x="580501" y="3318539"/>
            <a:ext cx="10744156" cy="2646848"/>
          </a:xfrm>
          <a:prstGeom prst="rect">
            <a:avLst/>
          </a:prstGeom>
          <a:noFill/>
          <a:ln>
            <a:noFill/>
          </a:ln>
        </p:spPr>
        <p:txBody>
          <a:bodyPr spcFirstLastPara="1" wrap="square" lIns="91425" tIns="91425" rIns="91425" bIns="91425" anchor="t" anchorCtr="0">
            <a:spAutoFit/>
          </a:bodyPr>
          <a:lstStyle/>
          <a:p>
            <a:pPr marL="457200" lvl="0" indent="-361950" algn="just" rtl="0">
              <a:spcBef>
                <a:spcPts val="0"/>
              </a:spcBef>
              <a:spcAft>
                <a:spcPts val="0"/>
              </a:spcAft>
              <a:buClr>
                <a:schemeClr val="dk1"/>
              </a:buClr>
              <a:buSzPts val="2100"/>
              <a:buChar char="●"/>
            </a:pPr>
            <a:r>
              <a:rPr lang="es-ES" sz="2000">
                <a:solidFill>
                  <a:schemeClr val="dk1"/>
                </a:solidFill>
                <a:latin typeface="Aptos"/>
              </a:rPr>
              <a:t>No existe una forma precisa de definir e identificar los valores atípicos de manera general debido a las particularidades de cada conjunto de datos. </a:t>
            </a:r>
          </a:p>
          <a:p>
            <a:pPr marL="457200" lvl="0" indent="0" algn="just" rtl="0">
              <a:spcBef>
                <a:spcPts val="0"/>
              </a:spcBef>
              <a:spcAft>
                <a:spcPts val="0"/>
              </a:spcAft>
              <a:buNone/>
            </a:pPr>
            <a:endParaRPr sz="2000">
              <a:solidFill>
                <a:schemeClr val="dk1"/>
              </a:solidFill>
              <a:latin typeface="Aptos"/>
            </a:endParaRPr>
          </a:p>
          <a:p>
            <a:pPr marL="457200" lvl="0" indent="-361950" algn="just" rtl="0">
              <a:spcBef>
                <a:spcPts val="0"/>
              </a:spcBef>
              <a:spcAft>
                <a:spcPts val="0"/>
              </a:spcAft>
              <a:buClr>
                <a:schemeClr val="dk1"/>
              </a:buClr>
              <a:buSzPts val="2100"/>
              <a:buChar char="●"/>
            </a:pPr>
            <a:r>
              <a:rPr lang="es-ES" sz="2000">
                <a:solidFill>
                  <a:schemeClr val="dk1"/>
                </a:solidFill>
                <a:latin typeface="Aptos"/>
              </a:rPr>
              <a:t>En su lugar, tú o un experto en el dominio deben interpretar las observaciones brutas y decidir si un valor es atípico o no.</a:t>
            </a:r>
            <a:endParaRPr sz="2000">
              <a:solidFill>
                <a:schemeClr val="dk1"/>
              </a:solidFill>
              <a:latin typeface="Aptos"/>
            </a:endParaRPr>
          </a:p>
          <a:p>
            <a:pPr marL="457200" lvl="0" indent="0" algn="just" rtl="0">
              <a:spcBef>
                <a:spcPts val="0"/>
              </a:spcBef>
              <a:spcAft>
                <a:spcPts val="0"/>
              </a:spcAft>
              <a:buNone/>
            </a:pPr>
            <a:endParaRPr sz="2000">
              <a:solidFill>
                <a:schemeClr val="dk1"/>
              </a:solidFill>
              <a:latin typeface="Aptos"/>
            </a:endParaRPr>
          </a:p>
          <a:p>
            <a:pPr marL="457200" lvl="0" indent="-361950" algn="just" rtl="0">
              <a:spcBef>
                <a:spcPts val="0"/>
              </a:spcBef>
              <a:spcAft>
                <a:spcPts val="0"/>
              </a:spcAft>
              <a:buClr>
                <a:schemeClr val="dk1"/>
              </a:buClr>
              <a:buSzPts val="2100"/>
              <a:buChar char="●"/>
            </a:pPr>
            <a:r>
              <a:rPr lang="es-ES" sz="2000">
                <a:solidFill>
                  <a:schemeClr val="dk1"/>
                </a:solidFill>
                <a:latin typeface="Aptos"/>
              </a:rPr>
              <a:t>Se debe tener mucho cuidado de no eliminar o modificar los valores apresuradamente, especialmente si el tamaño de la muestra es pequeño.</a:t>
            </a:r>
            <a:endParaRPr sz="2000">
              <a:solidFill>
                <a:schemeClr val="dk1"/>
              </a:solidFill>
              <a:latin typeface="Aptos"/>
            </a:endParaRPr>
          </a:p>
        </p:txBody>
      </p:sp>
      <p:pic>
        <p:nvPicPr>
          <p:cNvPr id="2" name="Imagen 1" descr="Metrics Monday: Outliers – Marc F. Bellemare">
            <a:extLst>
              <a:ext uri="{FF2B5EF4-FFF2-40B4-BE49-F238E27FC236}">
                <a16:creationId xmlns:a16="http://schemas.microsoft.com/office/drawing/2014/main" id="{9D9026DF-81DD-E9FE-D72F-2C8234D97E4C}"/>
              </a:ext>
            </a:extLst>
          </p:cNvPr>
          <p:cNvPicPr>
            <a:picLocks noChangeAspect="1"/>
          </p:cNvPicPr>
          <p:nvPr/>
        </p:nvPicPr>
        <p:blipFill>
          <a:blip r:embed="rId3"/>
          <a:stretch>
            <a:fillRect/>
          </a:stretch>
        </p:blipFill>
        <p:spPr>
          <a:xfrm>
            <a:off x="7609114" y="851228"/>
            <a:ext cx="3243941" cy="20204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5"/>
          <p:cNvSpPr txBox="1">
            <a:spLocks noGrp="1"/>
          </p:cNvSpPr>
          <p:nvPr>
            <p:ph type="title"/>
          </p:nvPr>
        </p:nvSpPr>
        <p:spPr>
          <a:xfrm>
            <a:off x="8342104" y="2752716"/>
            <a:ext cx="2805775" cy="1627331"/>
          </a:xfrm>
          <a:prstGeom prst="rect">
            <a:avLst/>
          </a:prstGeom>
          <a:noFill/>
          <a:ln>
            <a:noFill/>
          </a:ln>
        </p:spPr>
        <p:txBody>
          <a:bodyPr spcFirstLastPara="1" wrap="square" lIns="91425" tIns="45700" rIns="91425" bIns="45700" anchor="ctr" anchorCtr="0">
            <a:normAutofit fontScale="90000"/>
          </a:bodyPr>
          <a:lstStyle/>
          <a:p>
            <a:pPr algn="ctr">
              <a:buSzPts val="3600"/>
            </a:pPr>
            <a:r>
              <a:rPr lang="es-ES" sz="3400" dirty="0"/>
              <a:t>MÉTODOS PARA DETECTAR OUTLIERS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0"/>
          <p:cNvSpPr txBox="1">
            <a:spLocks noGrp="1"/>
          </p:cNvSpPr>
          <p:nvPr>
            <p:ph type="title"/>
          </p:nvPr>
        </p:nvSpPr>
        <p:spPr>
          <a:xfrm>
            <a:off x="1475225" y="433330"/>
            <a:ext cx="10301698" cy="403124"/>
          </a:xfrm>
          <a:prstGeom prst="rect">
            <a:avLst/>
          </a:prstGeom>
          <a:noFill/>
          <a:ln>
            <a:noFill/>
          </a:ln>
        </p:spPr>
        <p:txBody>
          <a:bodyPr spcFirstLastPara="1" wrap="square" lIns="0" tIns="0" rIns="0" bIns="0" anchor="t" anchorCtr="0">
            <a:spAutoFit/>
          </a:bodyPr>
          <a:lstStyle/>
          <a:p>
            <a:r>
              <a:rPr lang="es-CL"/>
              <a:t>OUTLIERS</a:t>
            </a:r>
            <a:endParaRPr/>
          </a:p>
        </p:txBody>
      </p:sp>
      <p:sp>
        <p:nvSpPr>
          <p:cNvPr id="225" name="Google Shape;225;p20"/>
          <p:cNvSpPr txBox="1"/>
          <p:nvPr/>
        </p:nvSpPr>
        <p:spPr>
          <a:xfrm>
            <a:off x="1475225" y="1118613"/>
            <a:ext cx="4944229" cy="3346099"/>
          </a:xfrm>
          <a:prstGeom prst="rect">
            <a:avLst/>
          </a:prstGeom>
          <a:noFill/>
          <a:ln>
            <a:noFill/>
          </a:ln>
        </p:spPr>
        <p:txBody>
          <a:bodyPr spcFirstLastPara="1" wrap="square" lIns="55440" tIns="27713" rIns="55440" bIns="27713" anchor="t" anchorCtr="0">
            <a:spAutoFit/>
          </a:bodyPr>
          <a:lstStyle/>
          <a:p>
            <a:pPr marL="30805" algn="just">
              <a:lnSpc>
                <a:spcPct val="107000"/>
              </a:lnSpc>
            </a:pPr>
            <a:r>
              <a:rPr lang="es-CL" sz="1455" b="1"/>
              <a:t>DETECCIÓN CON VISUALIZACIÓN</a:t>
            </a:r>
            <a:endParaRPr sz="1455"/>
          </a:p>
          <a:p>
            <a:pPr algn="just">
              <a:lnSpc>
                <a:spcPct val="115000"/>
              </a:lnSpc>
              <a:spcBef>
                <a:spcPts val="728"/>
              </a:spcBef>
            </a:pPr>
            <a:endParaRPr sz="1455"/>
          </a:p>
          <a:p>
            <a:pPr algn="just">
              <a:lnSpc>
                <a:spcPct val="115000"/>
              </a:lnSpc>
              <a:spcBef>
                <a:spcPts val="243"/>
              </a:spcBef>
            </a:pPr>
            <a:r>
              <a:rPr lang="es-CL" sz="1455"/>
              <a:t>En un </a:t>
            </a:r>
            <a:r>
              <a:rPr lang="es-CL" sz="1455" b="1"/>
              <a:t>gráfico de caja (boxplot), </a:t>
            </a:r>
            <a:r>
              <a:rPr lang="es-CL" sz="1455"/>
              <a:t>los outliers se trazan como puntos individuales, mientras que el resto de la población se agrupará dentro de la caja o los “bigotes” del gráfico.</a:t>
            </a:r>
            <a:endParaRPr sz="849"/>
          </a:p>
          <a:p>
            <a:pPr algn="just">
              <a:lnSpc>
                <a:spcPct val="115000"/>
              </a:lnSpc>
              <a:spcBef>
                <a:spcPts val="243"/>
              </a:spcBef>
            </a:pPr>
            <a:endParaRPr sz="1455"/>
          </a:p>
          <a:p>
            <a:pPr algn="just">
              <a:lnSpc>
                <a:spcPct val="115000"/>
              </a:lnSpc>
              <a:spcBef>
                <a:spcPts val="243"/>
              </a:spcBef>
            </a:pPr>
            <a:r>
              <a:rPr lang="es-CL" sz="1455"/>
              <a:t>La gráfica muestra tres puntos entre 10 y 12, estos son valores atípicos ya que no están incluidos en el cuadro de la observación, es decir, no están cerca de los cuartiles.</a:t>
            </a:r>
            <a:endParaRPr sz="849"/>
          </a:p>
          <a:p>
            <a:pPr algn="just">
              <a:lnSpc>
                <a:spcPct val="115000"/>
              </a:lnSpc>
              <a:spcBef>
                <a:spcPts val="243"/>
              </a:spcBef>
            </a:pPr>
            <a:endParaRPr sz="1455"/>
          </a:p>
          <a:p>
            <a:pPr algn="just">
              <a:lnSpc>
                <a:spcPct val="115000"/>
              </a:lnSpc>
              <a:spcBef>
                <a:spcPts val="243"/>
              </a:spcBef>
            </a:pPr>
            <a:r>
              <a:rPr lang="es-CL" sz="1455"/>
              <a:t>Aquí analizamos el </a:t>
            </a:r>
            <a:r>
              <a:rPr lang="es-CL" sz="1455" b="1">
                <a:solidFill>
                  <a:srgbClr val="FF0000"/>
                </a:solidFill>
              </a:rPr>
              <a:t>valor atípico univariable</a:t>
            </a:r>
            <a:r>
              <a:rPr lang="es-CL" sz="1455"/>
              <a:t>.</a:t>
            </a:r>
            <a:endParaRPr sz="849"/>
          </a:p>
        </p:txBody>
      </p:sp>
      <p:sp>
        <p:nvSpPr>
          <p:cNvPr id="226" name="Google Shape;226;p20"/>
          <p:cNvSpPr txBox="1"/>
          <p:nvPr/>
        </p:nvSpPr>
        <p:spPr>
          <a:xfrm>
            <a:off x="1567640" y="6219370"/>
            <a:ext cx="5390281" cy="205239"/>
          </a:xfrm>
          <a:prstGeom prst="rect">
            <a:avLst/>
          </a:prstGeom>
          <a:noFill/>
          <a:ln>
            <a:noFill/>
          </a:ln>
        </p:spPr>
        <p:txBody>
          <a:bodyPr spcFirstLastPara="1" wrap="square" lIns="55440" tIns="27713" rIns="55440" bIns="27713" anchor="t" anchorCtr="0">
            <a:spAutoFit/>
          </a:bodyPr>
          <a:lstStyle/>
          <a:p>
            <a:r>
              <a:rPr lang="es-CL" sz="970"/>
              <a:t>Fuente: https://towardsdatascience.com/ways-to-detect-and-remove-the-outliers-404d16608dba</a:t>
            </a:r>
            <a:endParaRPr sz="1092"/>
          </a:p>
        </p:txBody>
      </p:sp>
      <p:pic>
        <p:nvPicPr>
          <p:cNvPr id="227" name="Google Shape;227;p20"/>
          <p:cNvPicPr preferRelativeResize="0"/>
          <p:nvPr/>
        </p:nvPicPr>
        <p:blipFill rotWithShape="1">
          <a:blip r:embed="rId3">
            <a:alphaModFix/>
          </a:blip>
          <a:srcRect/>
          <a:stretch/>
        </p:blipFill>
        <p:spPr>
          <a:xfrm>
            <a:off x="6957921" y="1916987"/>
            <a:ext cx="4636801" cy="318455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1"/>
          <p:cNvSpPr txBox="1">
            <a:spLocks noGrp="1"/>
          </p:cNvSpPr>
          <p:nvPr>
            <p:ph type="title"/>
          </p:nvPr>
        </p:nvSpPr>
        <p:spPr>
          <a:xfrm>
            <a:off x="1475225" y="433330"/>
            <a:ext cx="10301698" cy="403124"/>
          </a:xfrm>
          <a:prstGeom prst="rect">
            <a:avLst/>
          </a:prstGeom>
          <a:noFill/>
          <a:ln>
            <a:noFill/>
          </a:ln>
        </p:spPr>
        <p:txBody>
          <a:bodyPr spcFirstLastPara="1" wrap="square" lIns="0" tIns="0" rIns="0" bIns="0" anchor="t" anchorCtr="0">
            <a:spAutoFit/>
          </a:bodyPr>
          <a:lstStyle/>
          <a:p>
            <a:r>
              <a:rPr lang="es-CL"/>
              <a:t>OUTLIERS</a:t>
            </a:r>
            <a:endParaRPr/>
          </a:p>
        </p:txBody>
      </p:sp>
      <p:sp>
        <p:nvSpPr>
          <p:cNvPr id="233" name="Google Shape;233;p21"/>
          <p:cNvSpPr txBox="1"/>
          <p:nvPr/>
        </p:nvSpPr>
        <p:spPr>
          <a:xfrm>
            <a:off x="1475225" y="1118613"/>
            <a:ext cx="4944229" cy="4169914"/>
          </a:xfrm>
          <a:prstGeom prst="rect">
            <a:avLst/>
          </a:prstGeom>
          <a:noFill/>
          <a:ln>
            <a:noFill/>
          </a:ln>
        </p:spPr>
        <p:txBody>
          <a:bodyPr spcFirstLastPara="1" wrap="square" lIns="55440" tIns="27713" rIns="55440" bIns="27713" anchor="t" anchorCtr="0">
            <a:spAutoFit/>
          </a:bodyPr>
          <a:lstStyle/>
          <a:p>
            <a:pPr marL="30805" algn="just">
              <a:lnSpc>
                <a:spcPct val="107000"/>
              </a:lnSpc>
            </a:pPr>
            <a:r>
              <a:rPr lang="es-CL" sz="1455" b="1"/>
              <a:t>DETECCIÓN CON VISUALIZACIÓN</a:t>
            </a:r>
            <a:endParaRPr sz="1455"/>
          </a:p>
          <a:p>
            <a:pPr algn="just">
              <a:lnSpc>
                <a:spcPct val="115000"/>
              </a:lnSpc>
              <a:spcBef>
                <a:spcPts val="728"/>
              </a:spcBef>
            </a:pPr>
            <a:endParaRPr sz="1455"/>
          </a:p>
          <a:p>
            <a:pPr algn="just">
              <a:lnSpc>
                <a:spcPct val="115000"/>
              </a:lnSpc>
              <a:spcBef>
                <a:spcPts val="243"/>
              </a:spcBef>
            </a:pPr>
            <a:r>
              <a:rPr lang="es-CL" sz="1455"/>
              <a:t>Un </a:t>
            </a:r>
            <a:r>
              <a:rPr lang="es-CL" sz="1455" b="1"/>
              <a:t>gráfico de dispersión </a:t>
            </a:r>
            <a:r>
              <a:rPr lang="es-CL" sz="1455"/>
              <a:t>es un tipo de gráfico o diagrama matemático que utiliza coordenadas cartesianas para mostrar valores de dos variables típicamente para un conjunto de datos. </a:t>
            </a:r>
            <a:endParaRPr sz="849"/>
          </a:p>
          <a:p>
            <a:pPr algn="just">
              <a:lnSpc>
                <a:spcPct val="115000"/>
              </a:lnSpc>
              <a:spcBef>
                <a:spcPts val="243"/>
              </a:spcBef>
            </a:pPr>
            <a:endParaRPr sz="1455"/>
          </a:p>
          <a:p>
            <a:pPr algn="just">
              <a:lnSpc>
                <a:spcPct val="115000"/>
              </a:lnSpc>
              <a:spcBef>
                <a:spcPts val="243"/>
              </a:spcBef>
            </a:pPr>
            <a:r>
              <a:rPr lang="es-CL" sz="1455"/>
              <a:t>Mirando la gráfica, podemos ver que la mayoría de los puntos de datos se encuentran en el lado inferior izquierdo, pero hay puntos que están lejos de la población, como la esquina superior derecha.</a:t>
            </a:r>
            <a:endParaRPr sz="849"/>
          </a:p>
          <a:p>
            <a:pPr algn="just">
              <a:lnSpc>
                <a:spcPct val="115000"/>
              </a:lnSpc>
              <a:spcBef>
                <a:spcPts val="243"/>
              </a:spcBef>
            </a:pPr>
            <a:endParaRPr sz="1455"/>
          </a:p>
          <a:p>
            <a:pPr algn="just">
              <a:lnSpc>
                <a:spcPct val="115000"/>
              </a:lnSpc>
              <a:spcBef>
                <a:spcPts val="243"/>
              </a:spcBef>
            </a:pPr>
            <a:r>
              <a:rPr lang="es-CL" sz="1455"/>
              <a:t>Este es un análisis de  </a:t>
            </a:r>
            <a:r>
              <a:rPr lang="es-CL" sz="1455" b="1">
                <a:solidFill>
                  <a:srgbClr val="FF0000"/>
                </a:solidFill>
              </a:rPr>
              <a:t>valores atípico multivariable</a:t>
            </a:r>
            <a:r>
              <a:rPr lang="es-CL" sz="1455"/>
              <a:t>.</a:t>
            </a:r>
            <a:endParaRPr sz="849"/>
          </a:p>
          <a:p>
            <a:pPr algn="just">
              <a:lnSpc>
                <a:spcPct val="115000"/>
              </a:lnSpc>
              <a:spcBef>
                <a:spcPts val="243"/>
              </a:spcBef>
            </a:pPr>
            <a:endParaRPr sz="1455"/>
          </a:p>
          <a:p>
            <a:pPr algn="just">
              <a:lnSpc>
                <a:spcPct val="115000"/>
              </a:lnSpc>
              <a:spcBef>
                <a:spcPts val="243"/>
              </a:spcBef>
            </a:pPr>
            <a:endParaRPr sz="1455"/>
          </a:p>
        </p:txBody>
      </p:sp>
      <p:sp>
        <p:nvSpPr>
          <p:cNvPr id="234" name="Google Shape;234;p21"/>
          <p:cNvSpPr txBox="1"/>
          <p:nvPr/>
        </p:nvSpPr>
        <p:spPr>
          <a:xfrm>
            <a:off x="1567640" y="6219370"/>
            <a:ext cx="5390281" cy="205239"/>
          </a:xfrm>
          <a:prstGeom prst="rect">
            <a:avLst/>
          </a:prstGeom>
          <a:noFill/>
          <a:ln>
            <a:noFill/>
          </a:ln>
        </p:spPr>
        <p:txBody>
          <a:bodyPr spcFirstLastPara="1" wrap="square" lIns="55440" tIns="27713" rIns="55440" bIns="27713" anchor="t" anchorCtr="0">
            <a:spAutoFit/>
          </a:bodyPr>
          <a:lstStyle/>
          <a:p>
            <a:r>
              <a:rPr lang="es-CL" sz="970"/>
              <a:t>Fuente: https://towardsdatascience.com/ways-to-detect-and-remove-the-outliers-404d16608dba</a:t>
            </a:r>
            <a:endParaRPr sz="1092"/>
          </a:p>
        </p:txBody>
      </p:sp>
      <p:pic>
        <p:nvPicPr>
          <p:cNvPr id="235" name="Google Shape;235;p21"/>
          <p:cNvPicPr preferRelativeResize="0"/>
          <p:nvPr/>
        </p:nvPicPr>
        <p:blipFill rotWithShape="1">
          <a:blip r:embed="rId3">
            <a:alphaModFix/>
          </a:blip>
          <a:srcRect/>
          <a:stretch/>
        </p:blipFill>
        <p:spPr>
          <a:xfrm>
            <a:off x="6742909" y="1876676"/>
            <a:ext cx="5276747" cy="26744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1475225" y="433330"/>
            <a:ext cx="10301698" cy="403124"/>
          </a:xfrm>
          <a:prstGeom prst="rect">
            <a:avLst/>
          </a:prstGeom>
          <a:noFill/>
          <a:ln>
            <a:noFill/>
          </a:ln>
        </p:spPr>
        <p:txBody>
          <a:bodyPr spcFirstLastPara="1" wrap="square" lIns="0" tIns="0" rIns="0" bIns="0" anchor="t" anchorCtr="0">
            <a:spAutoFit/>
          </a:bodyPr>
          <a:lstStyle/>
          <a:p>
            <a:r>
              <a:rPr lang="es-CL"/>
              <a:t>OUTLIERS</a:t>
            </a:r>
            <a:endParaRPr/>
          </a:p>
        </p:txBody>
      </p:sp>
      <p:sp>
        <p:nvSpPr>
          <p:cNvPr id="241" name="Google Shape;241;p22"/>
          <p:cNvSpPr txBox="1"/>
          <p:nvPr/>
        </p:nvSpPr>
        <p:spPr>
          <a:xfrm>
            <a:off x="1475225" y="1118613"/>
            <a:ext cx="4944229" cy="3062944"/>
          </a:xfrm>
          <a:prstGeom prst="rect">
            <a:avLst/>
          </a:prstGeom>
          <a:noFill/>
          <a:ln>
            <a:noFill/>
          </a:ln>
        </p:spPr>
        <p:txBody>
          <a:bodyPr spcFirstLastPara="1" wrap="square" lIns="55440" tIns="27713" rIns="55440" bIns="27713" anchor="t" anchorCtr="0">
            <a:spAutoFit/>
          </a:bodyPr>
          <a:lstStyle/>
          <a:p>
            <a:pPr marL="30805" algn="just">
              <a:lnSpc>
                <a:spcPct val="107000"/>
              </a:lnSpc>
            </a:pPr>
            <a:r>
              <a:rPr lang="es-CL" sz="1455" b="1"/>
              <a:t>DETECCIÓN CON MÉTRICAS</a:t>
            </a:r>
            <a:endParaRPr sz="1455"/>
          </a:p>
          <a:p>
            <a:pPr algn="just">
              <a:lnSpc>
                <a:spcPct val="115000"/>
              </a:lnSpc>
              <a:spcBef>
                <a:spcPts val="728"/>
              </a:spcBef>
            </a:pPr>
            <a:endParaRPr sz="1455"/>
          </a:p>
          <a:p>
            <a:pPr algn="just">
              <a:lnSpc>
                <a:spcPct val="115000"/>
              </a:lnSpc>
              <a:spcBef>
                <a:spcPts val="243"/>
              </a:spcBef>
            </a:pPr>
            <a:r>
              <a:rPr lang="es-CL" sz="1455" b="1"/>
              <a:t>La puntuación Z </a:t>
            </a:r>
            <a:r>
              <a:rPr lang="es-CL" sz="1455"/>
              <a:t>asume que las variables tienen una distribución Gaussiana. Aquí se representan el “número de desviaciones estándar” alejadas de la media.</a:t>
            </a:r>
            <a:endParaRPr sz="849"/>
          </a:p>
          <a:p>
            <a:pPr algn="just">
              <a:lnSpc>
                <a:spcPct val="115000"/>
              </a:lnSpc>
              <a:spcBef>
                <a:spcPts val="243"/>
              </a:spcBef>
            </a:pPr>
            <a:endParaRPr sz="1455"/>
          </a:p>
          <a:p>
            <a:pPr algn="just">
              <a:lnSpc>
                <a:spcPct val="115000"/>
              </a:lnSpc>
              <a:spcBef>
                <a:spcPts val="243"/>
              </a:spcBef>
            </a:pPr>
            <a:r>
              <a:rPr lang="es-CL" sz="1455"/>
              <a:t>Aquí, normalmente definimos valores atípicos como puntos cuyo módulo de puntuación z es mayor que un valor de umbral. Este valor de umbral suele ser superior a 2 (3 es un valor común).</a:t>
            </a:r>
            <a:endParaRPr sz="1455"/>
          </a:p>
          <a:p>
            <a:pPr algn="just">
              <a:lnSpc>
                <a:spcPct val="115000"/>
              </a:lnSpc>
              <a:spcBef>
                <a:spcPts val="243"/>
              </a:spcBef>
            </a:pPr>
            <a:endParaRPr sz="1455"/>
          </a:p>
        </p:txBody>
      </p:sp>
      <p:sp>
        <p:nvSpPr>
          <p:cNvPr id="242" name="Google Shape;242;p22"/>
          <p:cNvSpPr txBox="1"/>
          <p:nvPr/>
        </p:nvSpPr>
        <p:spPr>
          <a:xfrm>
            <a:off x="1567641" y="6219370"/>
            <a:ext cx="5927831" cy="205239"/>
          </a:xfrm>
          <a:prstGeom prst="rect">
            <a:avLst/>
          </a:prstGeom>
          <a:noFill/>
          <a:ln>
            <a:noFill/>
          </a:ln>
        </p:spPr>
        <p:txBody>
          <a:bodyPr spcFirstLastPara="1" wrap="square" lIns="55440" tIns="27713" rIns="55440" bIns="27713" anchor="t" anchorCtr="0">
            <a:spAutoFit/>
          </a:bodyPr>
          <a:lstStyle/>
          <a:p>
            <a:r>
              <a:rPr lang="es-CL" sz="970"/>
              <a:t>Fuente: https://medium.com/analytics-vidhya/how-to-remove-outliers-for-machine-learning-24620c4657e8</a:t>
            </a:r>
            <a:endParaRPr sz="1092"/>
          </a:p>
        </p:txBody>
      </p:sp>
      <p:pic>
        <p:nvPicPr>
          <p:cNvPr id="243" name="Google Shape;243;p22"/>
          <p:cNvPicPr preferRelativeResize="0"/>
          <p:nvPr/>
        </p:nvPicPr>
        <p:blipFill rotWithShape="1">
          <a:blip r:embed="rId3">
            <a:alphaModFix/>
          </a:blip>
          <a:srcRect/>
          <a:stretch/>
        </p:blipFill>
        <p:spPr>
          <a:xfrm>
            <a:off x="7343609" y="1395859"/>
            <a:ext cx="3703012" cy="2033141"/>
          </a:xfrm>
          <a:prstGeom prst="rect">
            <a:avLst/>
          </a:prstGeom>
          <a:noFill/>
          <a:ln>
            <a:noFill/>
          </a:ln>
        </p:spPr>
      </p:pic>
      <p:pic>
        <p:nvPicPr>
          <p:cNvPr id="244" name="Google Shape;244;p22"/>
          <p:cNvPicPr preferRelativeResize="0"/>
          <p:nvPr/>
        </p:nvPicPr>
        <p:blipFill rotWithShape="1">
          <a:blip r:embed="rId4">
            <a:alphaModFix/>
          </a:blip>
          <a:srcRect/>
          <a:stretch/>
        </p:blipFill>
        <p:spPr>
          <a:xfrm>
            <a:off x="7136546" y="3613831"/>
            <a:ext cx="4636527" cy="234205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xfrm>
            <a:off x="1475225" y="433330"/>
            <a:ext cx="10301698" cy="403124"/>
          </a:xfrm>
          <a:prstGeom prst="rect">
            <a:avLst/>
          </a:prstGeom>
          <a:noFill/>
          <a:ln>
            <a:noFill/>
          </a:ln>
        </p:spPr>
        <p:txBody>
          <a:bodyPr spcFirstLastPara="1" wrap="square" lIns="0" tIns="0" rIns="0" bIns="0" anchor="t" anchorCtr="0">
            <a:spAutoFit/>
          </a:bodyPr>
          <a:lstStyle/>
          <a:p>
            <a:r>
              <a:rPr lang="es-CL"/>
              <a:t>OUTLIERS</a:t>
            </a:r>
            <a:endParaRPr/>
          </a:p>
        </p:txBody>
      </p:sp>
      <p:sp>
        <p:nvSpPr>
          <p:cNvPr id="250" name="Google Shape;250;p23"/>
          <p:cNvSpPr txBox="1"/>
          <p:nvPr/>
        </p:nvSpPr>
        <p:spPr>
          <a:xfrm>
            <a:off x="1475225" y="1118612"/>
            <a:ext cx="4944229" cy="4736223"/>
          </a:xfrm>
          <a:prstGeom prst="rect">
            <a:avLst/>
          </a:prstGeom>
          <a:noFill/>
          <a:ln>
            <a:noFill/>
          </a:ln>
        </p:spPr>
        <p:txBody>
          <a:bodyPr spcFirstLastPara="1" wrap="square" lIns="55440" tIns="27713" rIns="55440" bIns="27713" anchor="t" anchorCtr="0">
            <a:spAutoFit/>
          </a:bodyPr>
          <a:lstStyle/>
          <a:p>
            <a:pPr marL="30805" algn="just">
              <a:lnSpc>
                <a:spcPct val="107000"/>
              </a:lnSpc>
            </a:pPr>
            <a:r>
              <a:rPr lang="es-CL" sz="1455" b="1"/>
              <a:t>DETECCIÓN CON MÉTRICAS</a:t>
            </a:r>
            <a:endParaRPr sz="1455"/>
          </a:p>
          <a:p>
            <a:pPr algn="just">
              <a:lnSpc>
                <a:spcPct val="115000"/>
              </a:lnSpc>
              <a:spcBef>
                <a:spcPts val="728"/>
              </a:spcBef>
            </a:pPr>
            <a:endParaRPr sz="1455"/>
          </a:p>
          <a:p>
            <a:pPr algn="just">
              <a:lnSpc>
                <a:spcPct val="115000"/>
              </a:lnSpc>
              <a:spcBef>
                <a:spcPts val="243"/>
              </a:spcBef>
            </a:pPr>
            <a:r>
              <a:rPr lang="es-CL" sz="1455" b="1"/>
              <a:t>El método IQR</a:t>
            </a:r>
            <a:r>
              <a:rPr lang="es-CL" sz="1455"/>
              <a:t>, usa del rango intercuartílico (IQR), para detectar valores atípicos. </a:t>
            </a:r>
            <a:endParaRPr sz="849"/>
          </a:p>
          <a:p>
            <a:pPr algn="just">
              <a:lnSpc>
                <a:spcPct val="115000"/>
              </a:lnSpc>
              <a:spcBef>
                <a:spcPts val="243"/>
              </a:spcBef>
            </a:pPr>
            <a:endParaRPr sz="1455"/>
          </a:p>
          <a:p>
            <a:pPr algn="just">
              <a:lnSpc>
                <a:spcPct val="115000"/>
              </a:lnSpc>
              <a:spcBef>
                <a:spcPts val="243"/>
              </a:spcBef>
            </a:pPr>
            <a:r>
              <a:rPr lang="es-CL" sz="1455"/>
              <a:t>IQR nos dice la variación en el conjunto de datos. </a:t>
            </a:r>
            <a:r>
              <a:rPr lang="es-CL" sz="1455" b="1"/>
              <a:t>Cualquier valor que esté más allá del rango de -1,5 x IQR a 1,5 x IQR se trata como un valor atípico</a:t>
            </a:r>
            <a:r>
              <a:rPr lang="es-CL" sz="1455"/>
              <a:t>.</a:t>
            </a:r>
            <a:endParaRPr sz="849"/>
          </a:p>
          <a:p>
            <a:pPr algn="just">
              <a:lnSpc>
                <a:spcPct val="115000"/>
              </a:lnSpc>
              <a:spcBef>
                <a:spcPts val="243"/>
              </a:spcBef>
            </a:pPr>
            <a:endParaRPr sz="1455"/>
          </a:p>
          <a:p>
            <a:pPr marL="207935" indent="-207935" algn="just">
              <a:lnSpc>
                <a:spcPct val="115000"/>
              </a:lnSpc>
              <a:spcBef>
                <a:spcPts val="243"/>
              </a:spcBef>
              <a:buSzPts val="2800"/>
              <a:buFont typeface="Arial"/>
              <a:buChar char="•"/>
            </a:pPr>
            <a:r>
              <a:rPr lang="es-CL" sz="1455"/>
              <a:t>Q1 representa el primer cuartil/percentil 25 de los datos.</a:t>
            </a:r>
            <a:endParaRPr sz="849"/>
          </a:p>
          <a:p>
            <a:pPr marL="207935" indent="-207935" algn="just">
              <a:lnSpc>
                <a:spcPct val="115000"/>
              </a:lnSpc>
              <a:spcBef>
                <a:spcPts val="243"/>
              </a:spcBef>
              <a:buSzPts val="2800"/>
              <a:buFont typeface="Arial"/>
              <a:buChar char="•"/>
            </a:pPr>
            <a:r>
              <a:rPr lang="es-CL" sz="1455"/>
              <a:t>Q2 representa el segundo cuartil/mediana/percentil 50 de los datos.</a:t>
            </a:r>
            <a:endParaRPr sz="849"/>
          </a:p>
          <a:p>
            <a:pPr marL="207935" indent="-207935" algn="just">
              <a:lnSpc>
                <a:spcPct val="115000"/>
              </a:lnSpc>
              <a:spcBef>
                <a:spcPts val="243"/>
              </a:spcBef>
              <a:buSzPts val="2800"/>
              <a:buFont typeface="Arial"/>
              <a:buChar char="•"/>
            </a:pPr>
            <a:r>
              <a:rPr lang="es-CL" sz="1455"/>
              <a:t>Q3 representa el tercer cuartil/percentil 75 de los datos.</a:t>
            </a:r>
            <a:endParaRPr sz="849"/>
          </a:p>
          <a:p>
            <a:pPr marL="207935" indent="-207935" algn="just">
              <a:lnSpc>
                <a:spcPct val="115000"/>
              </a:lnSpc>
              <a:spcBef>
                <a:spcPts val="243"/>
              </a:spcBef>
              <a:buSzPts val="2800"/>
              <a:buFont typeface="Arial"/>
              <a:buChar char="•"/>
            </a:pPr>
            <a:r>
              <a:rPr lang="es-CL" sz="1455"/>
              <a:t>(Q1–1.5IQR) representan el valor más pequeño en el conjunto de datos y </a:t>
            </a:r>
            <a:endParaRPr sz="849"/>
          </a:p>
          <a:p>
            <a:pPr marL="207935" indent="-207935" algn="just">
              <a:lnSpc>
                <a:spcPct val="115000"/>
              </a:lnSpc>
              <a:spcBef>
                <a:spcPts val="243"/>
              </a:spcBef>
              <a:buSzPts val="2800"/>
              <a:buFont typeface="Arial"/>
              <a:buChar char="•"/>
            </a:pPr>
            <a:r>
              <a:rPr lang="es-CL" sz="1455"/>
              <a:t>(Q3+1.5IQR) representan el valor más grande en el conjunto de datos</a:t>
            </a:r>
            <a:endParaRPr sz="1455"/>
          </a:p>
        </p:txBody>
      </p:sp>
      <p:sp>
        <p:nvSpPr>
          <p:cNvPr id="251" name="Google Shape;251;p23"/>
          <p:cNvSpPr txBox="1"/>
          <p:nvPr/>
        </p:nvSpPr>
        <p:spPr>
          <a:xfrm>
            <a:off x="1567641" y="6219370"/>
            <a:ext cx="5927831" cy="205239"/>
          </a:xfrm>
          <a:prstGeom prst="rect">
            <a:avLst/>
          </a:prstGeom>
          <a:noFill/>
          <a:ln>
            <a:noFill/>
          </a:ln>
        </p:spPr>
        <p:txBody>
          <a:bodyPr spcFirstLastPara="1" wrap="square" lIns="55440" tIns="27713" rIns="55440" bIns="27713" anchor="t" anchorCtr="0">
            <a:spAutoFit/>
          </a:bodyPr>
          <a:lstStyle/>
          <a:p>
            <a:r>
              <a:rPr lang="es-CL" sz="970"/>
              <a:t>Fuente: https://medium.com/analytics-vidhya/how-to-remove-outliers-for-machine-learning-24620c4657e8</a:t>
            </a:r>
            <a:endParaRPr sz="1092"/>
          </a:p>
        </p:txBody>
      </p:sp>
      <p:pic>
        <p:nvPicPr>
          <p:cNvPr id="252" name="Google Shape;252;p23"/>
          <p:cNvPicPr preferRelativeResize="0"/>
          <p:nvPr/>
        </p:nvPicPr>
        <p:blipFill rotWithShape="1">
          <a:blip r:embed="rId3">
            <a:alphaModFix/>
          </a:blip>
          <a:srcRect/>
          <a:stretch/>
        </p:blipFill>
        <p:spPr>
          <a:xfrm>
            <a:off x="7020155" y="2080330"/>
            <a:ext cx="4534135" cy="293996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g31fbf7af212_0_35"/>
          <p:cNvSpPr txBox="1"/>
          <p:nvPr/>
        </p:nvSpPr>
        <p:spPr>
          <a:xfrm>
            <a:off x="5125338" y="332376"/>
            <a:ext cx="7929600" cy="10965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Play"/>
              <a:buNone/>
            </a:pPr>
            <a:r>
              <a:rPr lang="es-ES" sz="3200" b="1" dirty="0">
                <a:solidFill>
                  <a:schemeClr val="dk1"/>
                </a:solidFill>
                <a:ea typeface="Play"/>
                <a:cs typeface="Play"/>
                <a:sym typeface="Play"/>
              </a:rPr>
              <a:t>Métodos para detectar </a:t>
            </a:r>
            <a:r>
              <a:rPr lang="es-ES" sz="3200" b="1" err="1">
                <a:solidFill>
                  <a:schemeClr val="dk1"/>
                </a:solidFill>
                <a:ea typeface="Play"/>
                <a:cs typeface="Play"/>
                <a:sym typeface="Play"/>
              </a:rPr>
              <a:t>Outliers</a:t>
            </a:r>
            <a:r>
              <a:rPr lang="es-ES" sz="3200" b="1" dirty="0">
                <a:solidFill>
                  <a:schemeClr val="dk1"/>
                </a:solidFill>
                <a:ea typeface="Play"/>
                <a:cs typeface="Play"/>
                <a:sym typeface="Play"/>
              </a:rPr>
              <a:t> </a:t>
            </a:r>
            <a:endParaRPr dirty="0">
              <a:solidFill>
                <a:schemeClr val="dk1"/>
              </a:solidFill>
            </a:endParaRPr>
          </a:p>
        </p:txBody>
      </p:sp>
      <p:sp>
        <p:nvSpPr>
          <p:cNvPr id="224" name="Google Shape;224;g31fbf7af212_0_35"/>
          <p:cNvSpPr txBox="1"/>
          <p:nvPr/>
        </p:nvSpPr>
        <p:spPr>
          <a:xfrm>
            <a:off x="1773910" y="1416789"/>
            <a:ext cx="9697499" cy="4641240"/>
          </a:xfrm>
          <a:prstGeom prst="rect">
            <a:avLst/>
          </a:prstGeom>
          <a:noFill/>
          <a:ln>
            <a:noFill/>
          </a:ln>
        </p:spPr>
        <p:txBody>
          <a:bodyPr spcFirstLastPara="1" wrap="square" lIns="91425" tIns="91425" rIns="91425" bIns="91425" anchor="t" anchorCtr="0">
            <a:spAutoFit/>
          </a:bodyPr>
          <a:lstStyle/>
          <a:p>
            <a:pPr marL="88900" lvl="0" algn="just" rtl="0">
              <a:lnSpc>
                <a:spcPct val="115000"/>
              </a:lnSpc>
              <a:spcBef>
                <a:spcPts val="1200"/>
              </a:spcBef>
              <a:spcAft>
                <a:spcPts val="0"/>
              </a:spcAft>
              <a:buClr>
                <a:schemeClr val="dk1"/>
              </a:buClr>
              <a:buSzPts val="2200"/>
            </a:pPr>
            <a:r>
              <a:rPr lang="es-ES" sz="2000" dirty="0">
                <a:solidFill>
                  <a:schemeClr val="dk1"/>
                </a:solidFill>
              </a:rPr>
              <a:t>Un enfoque sencillo para identificar valores atípicos es localizar aquellos ejemplos que se encuentran lejos de los demás en el espacio de características multidimensional. </a:t>
            </a:r>
            <a:endParaRPr lang="es-ES" sz="2000">
              <a:solidFill>
                <a:schemeClr val="dk1"/>
              </a:solidFill>
            </a:endParaRPr>
          </a:p>
          <a:p>
            <a:pPr lvl="0" algn="just" rtl="0">
              <a:lnSpc>
                <a:spcPct val="115000"/>
              </a:lnSpc>
              <a:spcBef>
                <a:spcPts val="1200"/>
              </a:spcBef>
              <a:spcAft>
                <a:spcPts val="0"/>
              </a:spcAft>
              <a:buClr>
                <a:schemeClr val="dk1"/>
              </a:buClr>
            </a:pPr>
            <a:r>
              <a:rPr lang="es-ES" sz="2000" dirty="0">
                <a:solidFill>
                  <a:schemeClr val="dk1"/>
                </a:solidFill>
              </a:rPr>
              <a:t>Esto puede funcionar bien en espacios de características con baja dimensionalidad (pocas características), aunque puede volverse menos confiable a medida que aumenta el número de características, lo que se conoce como la </a:t>
            </a:r>
            <a:r>
              <a:rPr lang="es-ES" sz="2000" b="1" dirty="0">
                <a:solidFill>
                  <a:schemeClr val="dk1"/>
                </a:solidFill>
              </a:rPr>
              <a:t>maldición de la dimensionalidad</a:t>
            </a:r>
            <a:r>
              <a:rPr lang="es-ES" sz="2000" dirty="0">
                <a:solidFill>
                  <a:schemeClr val="dk1"/>
                </a:solidFill>
              </a:rPr>
              <a:t> (</a:t>
            </a:r>
            <a:r>
              <a:rPr lang="es-ES" sz="2000" i="1" dirty="0">
                <a:solidFill>
                  <a:schemeClr val="dk1"/>
                </a:solidFill>
              </a:rPr>
              <a:t>curse </a:t>
            </a:r>
            <a:r>
              <a:rPr lang="es-ES" sz="2000" i="1" err="1">
                <a:solidFill>
                  <a:schemeClr val="dk1"/>
                </a:solidFill>
              </a:rPr>
              <a:t>of</a:t>
            </a:r>
            <a:r>
              <a:rPr lang="es-ES" sz="2000" i="1" dirty="0">
                <a:solidFill>
                  <a:schemeClr val="dk1"/>
                </a:solidFill>
              </a:rPr>
              <a:t> </a:t>
            </a:r>
            <a:r>
              <a:rPr lang="es-ES" sz="2000" i="1" err="1">
                <a:solidFill>
                  <a:schemeClr val="dk1"/>
                </a:solidFill>
              </a:rPr>
              <a:t>dimensionality</a:t>
            </a:r>
            <a:r>
              <a:rPr lang="es-ES" sz="2000" dirty="0">
                <a:solidFill>
                  <a:schemeClr val="dk1"/>
                </a:solidFill>
              </a:rPr>
              <a:t>).</a:t>
            </a:r>
            <a:endParaRPr sz="2000">
              <a:solidFill>
                <a:schemeClr val="dk1"/>
              </a:solidFill>
            </a:endParaRPr>
          </a:p>
          <a:p>
            <a:pPr marL="45720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lang="es-ES" sz="2200" b="1" dirty="0">
              <a:solidFill>
                <a:srgbClr val="FF0000"/>
              </a:solidFill>
            </a:endParaRPr>
          </a:p>
          <a:p>
            <a:pPr marL="0" lvl="0" indent="0" algn="l" rtl="0">
              <a:spcBef>
                <a:spcPts val="1200"/>
              </a:spcBef>
              <a:spcAft>
                <a:spcPts val="0"/>
              </a:spcAft>
              <a:buNone/>
            </a:pPr>
            <a:endParaRPr sz="2800">
              <a:solidFill>
                <a:schemeClr val="dk1"/>
              </a:solidFill>
            </a:endParaRPr>
          </a:p>
        </p:txBody>
      </p:sp>
      <p:pic>
        <p:nvPicPr>
          <p:cNvPr id="2" name="Imagen 1" descr="▷ MALDICIÓN de la DIMENSIONALIDAD . Qué es. Usa PCA para salvarte">
            <a:extLst>
              <a:ext uri="{FF2B5EF4-FFF2-40B4-BE49-F238E27FC236}">
                <a16:creationId xmlns:a16="http://schemas.microsoft.com/office/drawing/2014/main" id="{A28848A8-DA2D-8D1D-B082-CC474C1FF24B}"/>
              </a:ext>
            </a:extLst>
          </p:cNvPr>
          <p:cNvPicPr>
            <a:picLocks noChangeAspect="1"/>
          </p:cNvPicPr>
          <p:nvPr/>
        </p:nvPicPr>
        <p:blipFill>
          <a:blip r:embed="rId3"/>
          <a:srcRect r="-170" b="12896"/>
          <a:stretch/>
        </p:blipFill>
        <p:spPr>
          <a:xfrm>
            <a:off x="4898571" y="4337957"/>
            <a:ext cx="3439905" cy="2242459"/>
          </a:xfrm>
          <a:prstGeom prst="rect">
            <a:avLst/>
          </a:prstGeom>
          <a:ln>
            <a:solidFill>
              <a:srgbClr val="4472C4"/>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31fbf7af212_0_43"/>
          <p:cNvSpPr txBox="1"/>
          <p:nvPr/>
        </p:nvSpPr>
        <p:spPr>
          <a:xfrm>
            <a:off x="1707224" y="430347"/>
            <a:ext cx="7929600" cy="10965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Play"/>
              <a:buNone/>
            </a:pPr>
            <a:r>
              <a:rPr lang="es-ES" sz="3200" b="1" dirty="0">
                <a:solidFill>
                  <a:schemeClr val="dk1"/>
                </a:solidFill>
                <a:ea typeface="Play"/>
                <a:cs typeface="Play"/>
                <a:sym typeface="Play"/>
              </a:rPr>
              <a:t>Métodos para detectar </a:t>
            </a:r>
            <a:r>
              <a:rPr lang="es-ES" sz="3200" b="1" err="1">
                <a:solidFill>
                  <a:schemeClr val="dk1"/>
                </a:solidFill>
                <a:ea typeface="Play"/>
                <a:cs typeface="Play"/>
                <a:sym typeface="Play"/>
              </a:rPr>
              <a:t>Outliers</a:t>
            </a:r>
            <a:r>
              <a:rPr lang="es-ES" sz="3200" b="1" dirty="0">
                <a:solidFill>
                  <a:schemeClr val="dk1"/>
                </a:solidFill>
                <a:ea typeface="Play"/>
                <a:cs typeface="Play"/>
                <a:sym typeface="Play"/>
              </a:rPr>
              <a:t> </a:t>
            </a:r>
            <a:endParaRPr dirty="0">
              <a:solidFill>
                <a:schemeClr val="dk1"/>
              </a:solidFill>
            </a:endParaRPr>
          </a:p>
        </p:txBody>
      </p:sp>
      <p:sp>
        <p:nvSpPr>
          <p:cNvPr id="231" name="Google Shape;231;g31fbf7af212_0_43"/>
          <p:cNvSpPr txBox="1"/>
          <p:nvPr/>
        </p:nvSpPr>
        <p:spPr>
          <a:xfrm>
            <a:off x="1382025" y="1514761"/>
            <a:ext cx="10318286" cy="5644592"/>
          </a:xfrm>
          <a:prstGeom prst="rect">
            <a:avLst/>
          </a:prstGeom>
          <a:noFill/>
          <a:ln>
            <a:noFill/>
          </a:ln>
        </p:spPr>
        <p:txBody>
          <a:bodyPr spcFirstLastPara="1" wrap="square" lIns="91425" tIns="91425" rIns="91425" bIns="91425" anchor="t" anchorCtr="0">
            <a:spAutoFit/>
          </a:bodyPr>
          <a:lstStyle/>
          <a:p>
            <a:pPr marL="457200" lvl="0" indent="-361950" algn="just" rtl="0">
              <a:lnSpc>
                <a:spcPct val="115000"/>
              </a:lnSpc>
              <a:spcBef>
                <a:spcPts val="1200"/>
              </a:spcBef>
              <a:spcAft>
                <a:spcPts val="0"/>
              </a:spcAft>
              <a:buClr>
                <a:schemeClr val="dk1"/>
              </a:buClr>
              <a:buSzPts val="2100"/>
              <a:buChar char="●"/>
            </a:pPr>
            <a:r>
              <a:rPr lang="es-ES" sz="2100" dirty="0">
                <a:solidFill>
                  <a:schemeClr val="dk1"/>
                </a:solidFill>
              </a:rPr>
              <a:t>El </a:t>
            </a:r>
            <a:r>
              <a:rPr lang="es-ES" sz="2100" b="1" dirty="0">
                <a:solidFill>
                  <a:schemeClr val="dk1"/>
                </a:solidFill>
              </a:rPr>
              <a:t>factor de atipicidad local</a:t>
            </a:r>
            <a:r>
              <a:rPr lang="es-ES" sz="2100" dirty="0">
                <a:solidFill>
                  <a:schemeClr val="dk1"/>
                </a:solidFill>
              </a:rPr>
              <a:t> (</a:t>
            </a:r>
            <a:r>
              <a:rPr lang="es-ES" sz="2100" i="1" dirty="0">
                <a:solidFill>
                  <a:schemeClr val="dk1"/>
                </a:solidFill>
              </a:rPr>
              <a:t>Local </a:t>
            </a:r>
            <a:r>
              <a:rPr lang="es-ES" sz="2100" i="1" err="1">
                <a:solidFill>
                  <a:schemeClr val="dk1"/>
                </a:solidFill>
              </a:rPr>
              <a:t>Outlier</a:t>
            </a:r>
            <a:r>
              <a:rPr lang="es-ES" sz="2100" i="1" dirty="0">
                <a:solidFill>
                  <a:schemeClr val="dk1"/>
                </a:solidFill>
              </a:rPr>
              <a:t> Factor</a:t>
            </a:r>
            <a:r>
              <a:rPr lang="es-ES" sz="2100" dirty="0">
                <a:solidFill>
                  <a:schemeClr val="dk1"/>
                </a:solidFill>
              </a:rPr>
              <a:t> o </a:t>
            </a:r>
            <a:r>
              <a:rPr lang="es-ES" sz="2100" b="1" dirty="0">
                <a:solidFill>
                  <a:srgbClr val="0070C0"/>
                </a:solidFill>
              </a:rPr>
              <a:t>LOF</a:t>
            </a:r>
            <a:r>
              <a:rPr lang="es-ES" sz="2100" dirty="0">
                <a:solidFill>
                  <a:schemeClr val="dk1"/>
                </a:solidFill>
              </a:rPr>
              <a:t>, por sus siglas en inglés) es una técnica que intenta aprovechar la idea de los </a:t>
            </a:r>
            <a:r>
              <a:rPr lang="es-ES" sz="2100" b="1" dirty="0">
                <a:solidFill>
                  <a:schemeClr val="dk1"/>
                </a:solidFill>
              </a:rPr>
              <a:t>vecinos más cercanos</a:t>
            </a:r>
            <a:r>
              <a:rPr lang="es-ES" sz="2100" dirty="0">
                <a:solidFill>
                  <a:schemeClr val="dk1"/>
                </a:solidFill>
              </a:rPr>
              <a:t> para la detección de valores atípicos. </a:t>
            </a:r>
            <a:endParaRPr lang="es-ES" sz="2100">
              <a:solidFill>
                <a:schemeClr val="dk1"/>
              </a:solidFill>
            </a:endParaRPr>
          </a:p>
          <a:p>
            <a:pPr marL="457200" lvl="0" indent="-361950" algn="just" rtl="0">
              <a:lnSpc>
                <a:spcPct val="115000"/>
              </a:lnSpc>
              <a:spcBef>
                <a:spcPts val="1200"/>
              </a:spcBef>
              <a:spcAft>
                <a:spcPts val="0"/>
              </a:spcAft>
              <a:buClr>
                <a:schemeClr val="dk1"/>
              </a:buClr>
              <a:buSzPts val="2100"/>
              <a:buChar char="●"/>
            </a:pPr>
            <a:r>
              <a:rPr lang="es-ES" sz="2100" dirty="0">
                <a:solidFill>
                  <a:schemeClr val="dk1"/>
                </a:solidFill>
              </a:rPr>
              <a:t>A cada ejemplo se le asigna una puntuación que indica qué tan aislado está o cuán probable es que sea un valor atípico, basada en el tamaño de su vecindad local. </a:t>
            </a:r>
            <a:endParaRPr sz="2100">
              <a:solidFill>
                <a:schemeClr val="dk1"/>
              </a:solidFill>
            </a:endParaRPr>
          </a:p>
          <a:p>
            <a:pPr marL="457200" lvl="0" indent="-361950" algn="just" rtl="0">
              <a:lnSpc>
                <a:spcPct val="115000"/>
              </a:lnSpc>
              <a:spcBef>
                <a:spcPts val="1200"/>
              </a:spcBef>
              <a:spcAft>
                <a:spcPts val="0"/>
              </a:spcAft>
              <a:buClr>
                <a:schemeClr val="dk1"/>
              </a:buClr>
              <a:buSzPts val="2100"/>
              <a:buChar char="●"/>
            </a:pPr>
            <a:r>
              <a:rPr lang="es-ES" sz="2100" dirty="0">
                <a:solidFill>
                  <a:schemeClr val="dk1"/>
                </a:solidFill>
              </a:rPr>
              <a:t>Los ejemplos con la puntuación más alta tienen más probabilidades de ser valores atípicos.</a:t>
            </a:r>
            <a:endParaRPr sz="2100" dirty="0">
              <a:solidFill>
                <a:schemeClr val="dk1"/>
              </a:solidFill>
            </a:endParaRPr>
          </a:p>
          <a:p>
            <a:pPr marL="457200" lvl="0" indent="-361950" algn="just" rtl="0">
              <a:lnSpc>
                <a:spcPct val="115000"/>
              </a:lnSpc>
              <a:spcBef>
                <a:spcPts val="1200"/>
              </a:spcBef>
              <a:spcAft>
                <a:spcPts val="0"/>
              </a:spcAft>
              <a:buClr>
                <a:schemeClr val="dk1"/>
              </a:buClr>
              <a:buSzPts val="2100"/>
              <a:buChar char="●"/>
            </a:pPr>
            <a:r>
              <a:rPr lang="es-ES" sz="2100" dirty="0">
                <a:solidFill>
                  <a:schemeClr val="dk1"/>
                </a:solidFill>
              </a:rPr>
              <a:t>La biblioteca </a:t>
            </a:r>
            <a:r>
              <a:rPr lang="es-ES" sz="2100" b="1" err="1">
                <a:solidFill>
                  <a:srgbClr val="0070C0"/>
                </a:solidFill>
              </a:rPr>
              <a:t>scikit-learn</a:t>
            </a:r>
            <a:r>
              <a:rPr lang="es-ES" sz="2100" dirty="0">
                <a:solidFill>
                  <a:schemeClr val="dk1"/>
                </a:solidFill>
              </a:rPr>
              <a:t> proporciona una implementación de este enfoque a través de la clase </a:t>
            </a:r>
            <a:r>
              <a:rPr lang="es-ES" sz="2100" b="1" err="1">
                <a:solidFill>
                  <a:srgbClr val="0070C0"/>
                </a:solidFill>
              </a:rPr>
              <a:t>LocalOutlierFactor</a:t>
            </a:r>
            <a:r>
              <a:rPr lang="es-ES" sz="2100" dirty="0">
                <a:solidFill>
                  <a:schemeClr val="dk1"/>
                </a:solidFill>
              </a:rPr>
              <a:t>.</a:t>
            </a:r>
            <a:endParaRPr sz="21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spcBef>
                <a:spcPts val="1200"/>
              </a:spcBef>
              <a:spcAft>
                <a:spcPts val="0"/>
              </a:spcAft>
              <a:buNone/>
            </a:pPr>
            <a:endParaRPr sz="2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ff3fd5aa6_0_0"/>
          <p:cNvSpPr txBox="1">
            <a:spLocks noGrp="1"/>
          </p:cNvSpPr>
          <p:nvPr>
            <p:ph type="title"/>
          </p:nvPr>
        </p:nvSpPr>
        <p:spPr>
          <a:xfrm>
            <a:off x="7801207" y="2805625"/>
            <a:ext cx="3793800" cy="1627200"/>
          </a:xfrm>
          <a:prstGeom prst="rect">
            <a:avLst/>
          </a:prstGeom>
          <a:noFill/>
          <a:ln>
            <a:noFill/>
          </a:ln>
        </p:spPr>
        <p:txBody>
          <a:bodyPr spcFirstLastPara="1" wrap="square" lIns="91425" tIns="45700" rIns="91425" bIns="45700" anchor="ctr" anchorCtr="0">
            <a:normAutofit/>
          </a:bodyPr>
          <a:lstStyle/>
          <a:p>
            <a:pPr algn="ctr">
              <a:buSzPts val="3600"/>
            </a:pPr>
            <a:r>
              <a:rPr lang="es-ES" sz="3400" dirty="0"/>
              <a:t>ESTADÍSTICAS CON </a:t>
            </a:r>
            <a:r>
              <a:rPr lang="es-ES" sz="3400" err="1"/>
              <a:t>OUTLIERS</a:t>
            </a:r>
            <a:endParaRPr lang="es-ES" sz="3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31ff3fd5aa6_0_4"/>
          <p:cNvSpPr txBox="1"/>
          <p:nvPr/>
        </p:nvSpPr>
        <p:spPr>
          <a:xfrm>
            <a:off x="5549881" y="354147"/>
            <a:ext cx="7929600" cy="10965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Play"/>
              <a:buNone/>
            </a:pPr>
            <a:r>
              <a:rPr lang="es-ES" sz="3200" b="1" dirty="0">
                <a:solidFill>
                  <a:schemeClr val="dk1"/>
                </a:solidFill>
                <a:ea typeface="Play"/>
                <a:cs typeface="Play"/>
                <a:sym typeface="Play"/>
              </a:rPr>
              <a:t>¿Qué hacer con los </a:t>
            </a:r>
            <a:r>
              <a:rPr lang="es-ES" sz="3200" b="1" err="1">
                <a:solidFill>
                  <a:schemeClr val="dk1"/>
                </a:solidFill>
                <a:ea typeface="Play"/>
                <a:cs typeface="Play"/>
                <a:sym typeface="Play"/>
              </a:rPr>
              <a:t>Outliers</a:t>
            </a:r>
            <a:r>
              <a:rPr lang="es-ES" sz="3200" b="1" dirty="0">
                <a:solidFill>
                  <a:schemeClr val="dk1"/>
                </a:solidFill>
                <a:ea typeface="Play"/>
                <a:cs typeface="Play"/>
                <a:sym typeface="Play"/>
              </a:rPr>
              <a:t>?</a:t>
            </a:r>
            <a:endParaRPr dirty="0">
              <a:solidFill>
                <a:schemeClr val="dk1"/>
              </a:solidFill>
            </a:endParaRPr>
          </a:p>
        </p:txBody>
      </p:sp>
      <p:sp>
        <p:nvSpPr>
          <p:cNvPr id="242" name="Google Shape;242;g31ff3fd5aa6_0_4"/>
          <p:cNvSpPr txBox="1"/>
          <p:nvPr/>
        </p:nvSpPr>
        <p:spPr>
          <a:xfrm>
            <a:off x="1534425" y="1438561"/>
            <a:ext cx="10252972" cy="6016232"/>
          </a:xfrm>
          <a:prstGeom prst="rect">
            <a:avLst/>
          </a:prstGeom>
          <a:noFill/>
          <a:ln>
            <a:noFill/>
          </a:ln>
        </p:spPr>
        <p:txBody>
          <a:bodyPr spcFirstLastPara="1" wrap="square" lIns="91425" tIns="91425" rIns="91425" bIns="91425" anchor="t" anchorCtr="0">
            <a:spAutoFit/>
          </a:bodyPr>
          <a:lstStyle/>
          <a:p>
            <a:pPr marL="457200" indent="-361950">
              <a:lnSpc>
                <a:spcPct val="115000"/>
              </a:lnSpc>
              <a:spcBef>
                <a:spcPts val="1200"/>
              </a:spcBef>
              <a:buClr>
                <a:schemeClr val="dk1"/>
              </a:buClr>
              <a:buSzPts val="2100"/>
              <a:buChar char="●"/>
            </a:pPr>
            <a:r>
              <a:rPr lang="es-ES" sz="2100" dirty="0">
                <a:solidFill>
                  <a:schemeClr val="dk1"/>
                </a:solidFill>
              </a:rPr>
              <a:t>Los valores atípicos a menudo pueden desviar nuestras percepciones, convirtiendo lo que debería ser un análisis significativo en una conclusión engañosa.</a:t>
            </a:r>
            <a:endParaRPr sz="2100" dirty="0">
              <a:solidFill>
                <a:schemeClr val="dk1"/>
              </a:solidFill>
            </a:endParaRPr>
          </a:p>
          <a:p>
            <a:pPr marL="457200" lvl="0" indent="-361950" algn="l" rtl="0">
              <a:lnSpc>
                <a:spcPct val="115000"/>
              </a:lnSpc>
              <a:spcBef>
                <a:spcPts val="1200"/>
              </a:spcBef>
              <a:spcAft>
                <a:spcPts val="0"/>
              </a:spcAft>
              <a:buClr>
                <a:schemeClr val="dk1"/>
              </a:buClr>
              <a:buSzPts val="2100"/>
              <a:buChar char="●"/>
            </a:pPr>
            <a:r>
              <a:rPr lang="es-ES" sz="2100" dirty="0">
                <a:solidFill>
                  <a:schemeClr val="dk1"/>
                </a:solidFill>
              </a:rPr>
              <a:t>Una vez detectados los </a:t>
            </a:r>
            <a:r>
              <a:rPr lang="es-ES" sz="2100" dirty="0" err="1">
                <a:solidFill>
                  <a:schemeClr val="dk1"/>
                </a:solidFill>
              </a:rPr>
              <a:t>Outliers</a:t>
            </a:r>
            <a:r>
              <a:rPr lang="es-ES" sz="2100" dirty="0">
                <a:solidFill>
                  <a:schemeClr val="dk1"/>
                </a:solidFill>
              </a:rPr>
              <a:t>, debemos seguir nuestro análisis, realizando los cálculos pertinentes.</a:t>
            </a:r>
            <a:endParaRPr sz="2100" dirty="0">
              <a:solidFill>
                <a:schemeClr val="dk1"/>
              </a:solidFill>
            </a:endParaRPr>
          </a:p>
          <a:p>
            <a:pPr marL="457200" lvl="0" indent="-361950" algn="l" rtl="0">
              <a:lnSpc>
                <a:spcPct val="115000"/>
              </a:lnSpc>
              <a:spcBef>
                <a:spcPts val="1200"/>
              </a:spcBef>
              <a:spcAft>
                <a:spcPts val="0"/>
              </a:spcAft>
              <a:buClr>
                <a:schemeClr val="dk1"/>
              </a:buClr>
              <a:buSzPts val="2100"/>
              <a:buChar char="●"/>
            </a:pPr>
            <a:r>
              <a:rPr lang="es-ES" sz="2100" dirty="0">
                <a:solidFill>
                  <a:schemeClr val="dk1"/>
                </a:solidFill>
              </a:rPr>
              <a:t>No siempre lo recomendado es eliminar los datos que sean considerados </a:t>
            </a:r>
            <a:r>
              <a:rPr lang="es-ES" sz="2100" dirty="0" err="1">
                <a:solidFill>
                  <a:schemeClr val="dk1"/>
                </a:solidFill>
              </a:rPr>
              <a:t>outliers</a:t>
            </a:r>
            <a:r>
              <a:rPr lang="es-ES" sz="2100" dirty="0">
                <a:solidFill>
                  <a:schemeClr val="dk1"/>
                </a:solidFill>
              </a:rPr>
              <a:t>.</a:t>
            </a:r>
            <a:endParaRPr sz="2100" dirty="0">
              <a:solidFill>
                <a:schemeClr val="dk1"/>
              </a:solidFill>
            </a:endParaRPr>
          </a:p>
          <a:p>
            <a:pPr marL="457200" indent="-361950">
              <a:lnSpc>
                <a:spcPct val="115000"/>
              </a:lnSpc>
              <a:spcBef>
                <a:spcPts val="1200"/>
              </a:spcBef>
              <a:buClr>
                <a:schemeClr val="dk1"/>
              </a:buClr>
              <a:buSzPts val="2100"/>
              <a:buChar char="●"/>
            </a:pPr>
            <a:r>
              <a:rPr lang="es-ES" sz="2100" dirty="0">
                <a:solidFill>
                  <a:schemeClr val="dk1"/>
                </a:solidFill>
              </a:rPr>
              <a:t>Las opciones son:</a:t>
            </a:r>
            <a:endParaRPr sz="2100" dirty="0">
              <a:solidFill>
                <a:schemeClr val="dk1"/>
              </a:solidFill>
            </a:endParaRPr>
          </a:p>
          <a:p>
            <a:pPr marL="914400" lvl="1" indent="-361950" algn="l" rtl="0">
              <a:lnSpc>
                <a:spcPct val="115000"/>
              </a:lnSpc>
              <a:spcBef>
                <a:spcPts val="0"/>
              </a:spcBef>
              <a:spcAft>
                <a:spcPts val="0"/>
              </a:spcAft>
              <a:buClr>
                <a:schemeClr val="dk1"/>
              </a:buClr>
              <a:buSzPts val="2100"/>
              <a:buChar char="○"/>
            </a:pPr>
            <a:r>
              <a:rPr lang="es-ES" sz="2100" dirty="0">
                <a:solidFill>
                  <a:schemeClr val="dk1"/>
                </a:solidFill>
              </a:rPr>
              <a:t>Ignorar</a:t>
            </a:r>
            <a:endParaRPr sz="2100" dirty="0">
              <a:solidFill>
                <a:schemeClr val="dk1"/>
              </a:solidFill>
            </a:endParaRPr>
          </a:p>
          <a:p>
            <a:pPr marL="914400" lvl="1" indent="-361950" algn="l" rtl="0">
              <a:lnSpc>
                <a:spcPct val="115000"/>
              </a:lnSpc>
              <a:spcBef>
                <a:spcPts val="0"/>
              </a:spcBef>
              <a:spcAft>
                <a:spcPts val="0"/>
              </a:spcAft>
              <a:buClr>
                <a:schemeClr val="dk1"/>
              </a:buClr>
              <a:buSzPts val="2100"/>
              <a:buChar char="○"/>
            </a:pPr>
            <a:r>
              <a:rPr lang="es-ES" sz="2100" dirty="0">
                <a:solidFill>
                  <a:schemeClr val="dk1"/>
                </a:solidFill>
              </a:rPr>
              <a:t>Truncar</a:t>
            </a:r>
            <a:endParaRPr sz="2100" dirty="0">
              <a:solidFill>
                <a:schemeClr val="dk1"/>
              </a:solidFill>
            </a:endParaRPr>
          </a:p>
          <a:p>
            <a:pPr marL="914400" lvl="1" indent="-361950" algn="l" rtl="0">
              <a:lnSpc>
                <a:spcPct val="115000"/>
              </a:lnSpc>
              <a:spcBef>
                <a:spcPts val="0"/>
              </a:spcBef>
              <a:spcAft>
                <a:spcPts val="0"/>
              </a:spcAft>
              <a:buClr>
                <a:schemeClr val="dk1"/>
              </a:buClr>
              <a:buSzPts val="2100"/>
              <a:buChar char="○"/>
            </a:pPr>
            <a:r>
              <a:rPr lang="es-ES" sz="2100" dirty="0" err="1">
                <a:solidFill>
                  <a:schemeClr val="dk1"/>
                </a:solidFill>
              </a:rPr>
              <a:t>Winsorizar</a:t>
            </a:r>
            <a:endParaRPr sz="2100" dirty="0" err="1">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spcBef>
                <a:spcPts val="1200"/>
              </a:spcBef>
              <a:spcAft>
                <a:spcPts val="0"/>
              </a:spcAft>
              <a:buNone/>
            </a:pPr>
            <a:endParaRPr sz="2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31ff3fd5aa6_0_10"/>
          <p:cNvSpPr txBox="1"/>
          <p:nvPr/>
        </p:nvSpPr>
        <p:spPr>
          <a:xfrm>
            <a:off x="1707224" y="430347"/>
            <a:ext cx="7929600" cy="10965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Play"/>
              <a:buNone/>
            </a:pPr>
            <a:r>
              <a:rPr lang="es-ES" sz="3200" b="1">
                <a:solidFill>
                  <a:schemeClr val="dk1"/>
                </a:solidFill>
                <a:latin typeface="Play"/>
                <a:ea typeface="Play"/>
                <a:cs typeface="Play"/>
                <a:sym typeface="Play"/>
              </a:rPr>
              <a:t>¿Qué hacer con los Outliers?</a:t>
            </a:r>
            <a:endParaRPr/>
          </a:p>
        </p:txBody>
      </p:sp>
      <p:sp>
        <p:nvSpPr>
          <p:cNvPr id="248" name="Google Shape;248;g31ff3fd5aa6_0_10"/>
          <p:cNvSpPr txBox="1"/>
          <p:nvPr/>
        </p:nvSpPr>
        <p:spPr>
          <a:xfrm>
            <a:off x="1382025" y="894275"/>
            <a:ext cx="10688400" cy="5862344"/>
          </a:xfrm>
          <a:prstGeom prst="rect">
            <a:avLst/>
          </a:prstGeom>
          <a:noFill/>
          <a:ln>
            <a:noFill/>
          </a:ln>
        </p:spPr>
        <p:txBody>
          <a:bodyPr spcFirstLastPara="1" wrap="square" lIns="91425" tIns="91425" rIns="91425" bIns="91425" anchor="t" anchorCtr="0">
            <a:spAutoFit/>
          </a:bodyPr>
          <a:lstStyle/>
          <a:p>
            <a:pPr marL="457200" lvl="0" indent="-361950" algn="l" rtl="0">
              <a:lnSpc>
                <a:spcPct val="115000"/>
              </a:lnSpc>
              <a:spcBef>
                <a:spcPts val="1200"/>
              </a:spcBef>
              <a:spcAft>
                <a:spcPts val="0"/>
              </a:spcAft>
              <a:buClr>
                <a:schemeClr val="dk1"/>
              </a:buClr>
              <a:buSzPts val="2100"/>
              <a:buChar char="●"/>
            </a:pPr>
            <a:r>
              <a:rPr lang="es-ES" sz="2100" b="1" dirty="0">
                <a:solidFill>
                  <a:schemeClr val="dk1"/>
                </a:solidFill>
              </a:rPr>
              <a:t>Ignorar:</a:t>
            </a:r>
            <a:r>
              <a:rPr lang="es-ES" sz="2100" dirty="0">
                <a:solidFill>
                  <a:schemeClr val="dk1"/>
                </a:solidFill>
              </a:rPr>
              <a:t> simplemente los datos </a:t>
            </a:r>
            <a:r>
              <a:rPr lang="es-ES" sz="2100" dirty="0" err="1">
                <a:solidFill>
                  <a:schemeClr val="dk1"/>
                </a:solidFill>
              </a:rPr>
              <a:t>outliers</a:t>
            </a:r>
            <a:r>
              <a:rPr lang="es-ES" sz="2100" dirty="0">
                <a:solidFill>
                  <a:schemeClr val="dk1"/>
                </a:solidFill>
              </a:rPr>
              <a:t> no se consideran en el análisis estadístico de los datos.</a:t>
            </a:r>
            <a:endParaRPr sz="2100" dirty="0">
              <a:solidFill>
                <a:schemeClr val="dk1"/>
              </a:solidFill>
            </a:endParaRPr>
          </a:p>
          <a:p>
            <a:pPr marL="457200" lvl="0" indent="-361950" algn="l" rtl="0">
              <a:lnSpc>
                <a:spcPct val="115000"/>
              </a:lnSpc>
              <a:spcBef>
                <a:spcPts val="1200"/>
              </a:spcBef>
              <a:spcAft>
                <a:spcPts val="0"/>
              </a:spcAft>
              <a:buClr>
                <a:schemeClr val="dk1"/>
              </a:buClr>
              <a:buSzPts val="2100"/>
              <a:buChar char="●"/>
            </a:pPr>
            <a:r>
              <a:rPr lang="es-ES" sz="2100" b="1" dirty="0">
                <a:solidFill>
                  <a:schemeClr val="dk1"/>
                </a:solidFill>
              </a:rPr>
              <a:t>Truncar:</a:t>
            </a:r>
            <a:r>
              <a:rPr lang="es-ES" sz="2100" dirty="0">
                <a:solidFill>
                  <a:schemeClr val="dk1"/>
                </a:solidFill>
              </a:rPr>
              <a:t> es parecido a ignorar, pero se define un porcentaje de valores a ignorar. Por ejemplo, si tenemos 10 valores y deseamos truncar al 10%, entonces se ignora el valor extremo menor y mayor. Si truncamos al 20%, ignoramos los dos valores más extremos por ambos lados (menor y mayor).</a:t>
            </a:r>
            <a:endParaRPr sz="2100" dirty="0">
              <a:solidFill>
                <a:schemeClr val="dk1"/>
              </a:solidFill>
            </a:endParaRPr>
          </a:p>
          <a:p>
            <a:pPr marL="457200" lvl="0" indent="-361950" algn="l" rtl="0">
              <a:lnSpc>
                <a:spcPct val="115000"/>
              </a:lnSpc>
              <a:spcBef>
                <a:spcPts val="1200"/>
              </a:spcBef>
              <a:spcAft>
                <a:spcPts val="0"/>
              </a:spcAft>
              <a:buClr>
                <a:schemeClr val="dk1"/>
              </a:buClr>
              <a:buSzPts val="2100"/>
              <a:buChar char="●"/>
            </a:pPr>
            <a:r>
              <a:rPr lang="es-ES" sz="2100" b="1" dirty="0" err="1">
                <a:solidFill>
                  <a:schemeClr val="dk1"/>
                </a:solidFill>
              </a:rPr>
              <a:t>Winsorizar</a:t>
            </a:r>
            <a:r>
              <a:rPr lang="es-ES" sz="2100" b="1" dirty="0">
                <a:solidFill>
                  <a:schemeClr val="dk1"/>
                </a:solidFill>
              </a:rPr>
              <a:t>:</a:t>
            </a:r>
            <a:r>
              <a:rPr lang="es-ES" sz="2100" dirty="0">
                <a:solidFill>
                  <a:schemeClr val="dk1"/>
                </a:solidFill>
              </a:rPr>
              <a:t> la diferencia se traduce en que acá no se ignoran los valores, si no que los valores extremos, definidos por un porcentaje al igual que “Truncar”, se reemplazan por u valor determinado. Por ejemplo, en una </a:t>
            </a:r>
            <a:r>
              <a:rPr lang="es-ES" sz="2100" dirty="0" err="1">
                <a:solidFill>
                  <a:schemeClr val="dk1"/>
                </a:solidFill>
              </a:rPr>
              <a:t>winsorización</a:t>
            </a:r>
            <a:r>
              <a:rPr lang="es-ES" sz="2100" dirty="0">
                <a:solidFill>
                  <a:schemeClr val="dk1"/>
                </a:solidFill>
              </a:rPr>
              <a:t> del 5%, el 5% más bajo de los puntos de datos se sustituye por el valor del percentil 5, y el 5% más alto se sustituye por el valor del percentil 95.</a:t>
            </a:r>
            <a:endParaRPr sz="2100" dirty="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spcBef>
                <a:spcPts val="1200"/>
              </a:spcBef>
              <a:spcAft>
                <a:spcPts val="0"/>
              </a:spcAft>
              <a:buNone/>
            </a:pPr>
            <a:endParaRPr sz="2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94456A9-1780-5675-2772-92F359818DA5}"/>
              </a:ext>
            </a:extLst>
          </p:cNvPr>
          <p:cNvSpPr>
            <a:spLocks noGrp="1"/>
          </p:cNvSpPr>
          <p:nvPr>
            <p:ph type="title"/>
          </p:nvPr>
        </p:nvSpPr>
        <p:spPr>
          <a:xfrm>
            <a:off x="8338457" y="2752716"/>
            <a:ext cx="2925839" cy="1627331"/>
          </a:xfrm>
        </p:spPr>
        <p:txBody>
          <a:bodyPr/>
          <a:lstStyle/>
          <a:p>
            <a:r>
              <a:rPr lang="es-CL" dirty="0"/>
              <a:t>Conclusiones</a:t>
            </a:r>
          </a:p>
        </p:txBody>
      </p:sp>
    </p:spTree>
    <p:extLst>
      <p:ext uri="{BB962C8B-B14F-4D97-AF65-F5344CB8AC3E}">
        <p14:creationId xmlns:p14="http://schemas.microsoft.com/office/powerpoint/2010/main" val="1795622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6D850380-11CD-8B3E-F93E-9EE6CBA4F7DE}"/>
              </a:ext>
            </a:extLst>
          </p:cNvPr>
          <p:cNvSpPr>
            <a:spLocks noGrp="1"/>
          </p:cNvSpPr>
          <p:nvPr>
            <p:ph type="body" idx="1"/>
          </p:nvPr>
        </p:nvSpPr>
        <p:spPr>
          <a:xfrm>
            <a:off x="1676606" y="635428"/>
            <a:ext cx="4916775" cy="469685"/>
          </a:xfrm>
        </p:spPr>
        <p:txBody>
          <a:bodyPr/>
          <a:lstStyle/>
          <a:p>
            <a:r>
              <a:rPr lang="es-ES" dirty="0"/>
              <a:t>Resultados diferentes</a:t>
            </a:r>
          </a:p>
        </p:txBody>
      </p:sp>
      <p:sp>
        <p:nvSpPr>
          <p:cNvPr id="5" name="CuadroTexto 4">
            <a:extLst>
              <a:ext uri="{FF2B5EF4-FFF2-40B4-BE49-F238E27FC236}">
                <a16:creationId xmlns:a16="http://schemas.microsoft.com/office/drawing/2014/main" id="{38F57AFB-FFC0-5452-6FE1-411E0BB0E726}"/>
              </a:ext>
            </a:extLst>
          </p:cNvPr>
          <p:cNvSpPr txBox="1"/>
          <p:nvPr/>
        </p:nvSpPr>
        <p:spPr>
          <a:xfrm>
            <a:off x="2024991" y="1888919"/>
            <a:ext cx="897947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000" b="1" dirty="0"/>
              <a:t>Cada método define “</a:t>
            </a:r>
            <a:r>
              <a:rPr lang="es-ES" sz="2000" b="1" dirty="0" err="1"/>
              <a:t>outlier</a:t>
            </a:r>
            <a:r>
              <a:rPr lang="es-ES" sz="2000" b="1" dirty="0"/>
              <a:t>” de manera diferente.</a:t>
            </a:r>
          </a:p>
          <a:p>
            <a:pPr algn="just"/>
            <a:endParaRPr lang="es-ES" sz="2000" b="1" dirty="0"/>
          </a:p>
          <a:p>
            <a:pPr algn="just"/>
            <a:r>
              <a:rPr lang="es-ES" sz="2000" dirty="0"/>
              <a:t>No están detectando lo mismo, aunque usen el mismo nombre.</a:t>
            </a:r>
          </a:p>
          <a:p>
            <a:pPr algn="just"/>
            <a:endParaRPr lang="es-ES" sz="2000" dirty="0"/>
          </a:p>
          <a:p>
            <a:pPr marL="342900" indent="-342900" algn="just">
              <a:buFont typeface="Arial" panose="020B0604020202020204" pitchFamily="34" charset="0"/>
              <a:buChar char="•"/>
            </a:pPr>
            <a:r>
              <a:rPr lang="es-ES" sz="2000" dirty="0"/>
              <a:t>Un método estadístico (IQR, Z-score) identifica extremos en la distribución.</a:t>
            </a:r>
          </a:p>
          <a:p>
            <a:pPr marL="342900" indent="-342900" algn="just">
              <a:buFont typeface="Arial" panose="020B0604020202020204" pitchFamily="34" charset="0"/>
              <a:buChar char="•"/>
            </a:pPr>
            <a:r>
              <a:rPr lang="es-ES" sz="2000" dirty="0"/>
              <a:t>Un método basado en distancia detecta puntos lejanos en el espacio de variables.</a:t>
            </a:r>
          </a:p>
          <a:p>
            <a:pPr marL="342900" indent="-342900" algn="just">
              <a:buFont typeface="Arial" panose="020B0604020202020204" pitchFamily="34" charset="0"/>
              <a:buChar char="•"/>
            </a:pPr>
            <a:r>
              <a:rPr lang="es-ES" sz="2000" dirty="0"/>
              <a:t>Un método de densidad (LOF) identifica puntos en zonas de baja densidad local.</a:t>
            </a:r>
          </a:p>
          <a:p>
            <a:pPr algn="just"/>
            <a:endParaRPr lang="es-ES" sz="2000" dirty="0"/>
          </a:p>
          <a:p>
            <a:pPr algn="just"/>
            <a:r>
              <a:rPr lang="es-ES" sz="2000" dirty="0"/>
              <a:t>Por lo tanto, los conjuntos de </a:t>
            </a:r>
            <a:r>
              <a:rPr lang="es-ES" sz="2000" dirty="0" err="1"/>
              <a:t>outliers</a:t>
            </a:r>
            <a:r>
              <a:rPr lang="es-ES" sz="2000" dirty="0"/>
              <a:t> no coinciden porque los criterios son distintos.</a:t>
            </a:r>
            <a:endParaRPr lang="es-ES" dirty="0"/>
          </a:p>
        </p:txBody>
      </p:sp>
    </p:spTree>
    <p:extLst>
      <p:ext uri="{BB962C8B-B14F-4D97-AF65-F5344CB8AC3E}">
        <p14:creationId xmlns:p14="http://schemas.microsoft.com/office/powerpoint/2010/main" val="1297279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82C81-A570-3357-FC85-DEBD24A8921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5476E254-248B-BBB2-D112-01C3F56887D9}"/>
              </a:ext>
            </a:extLst>
          </p:cNvPr>
          <p:cNvSpPr>
            <a:spLocks noGrp="1"/>
          </p:cNvSpPr>
          <p:nvPr>
            <p:ph type="body" idx="1"/>
          </p:nvPr>
        </p:nvSpPr>
        <p:spPr>
          <a:xfrm>
            <a:off x="1676606" y="635428"/>
            <a:ext cx="4916775" cy="469685"/>
          </a:xfrm>
        </p:spPr>
        <p:txBody>
          <a:bodyPr/>
          <a:lstStyle/>
          <a:p>
            <a:r>
              <a:rPr lang="es-ES" dirty="0"/>
              <a:t>Resultados diferentes</a:t>
            </a:r>
          </a:p>
        </p:txBody>
      </p:sp>
      <p:sp>
        <p:nvSpPr>
          <p:cNvPr id="5" name="CuadroTexto 4">
            <a:extLst>
              <a:ext uri="{FF2B5EF4-FFF2-40B4-BE49-F238E27FC236}">
                <a16:creationId xmlns:a16="http://schemas.microsoft.com/office/drawing/2014/main" id="{54445A7A-4CE7-5479-D7C5-E52A4DC93F7A}"/>
              </a:ext>
            </a:extLst>
          </p:cNvPr>
          <p:cNvSpPr txBox="1"/>
          <p:nvPr/>
        </p:nvSpPr>
        <p:spPr>
          <a:xfrm>
            <a:off x="2024991" y="1888919"/>
            <a:ext cx="8979476"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000" b="1" dirty="0"/>
              <a:t>La discrepancia depende de la estructura de los datos</a:t>
            </a:r>
          </a:p>
          <a:p>
            <a:pPr algn="just"/>
            <a:endParaRPr lang="es-ES" sz="2000" b="1" dirty="0"/>
          </a:p>
          <a:p>
            <a:pPr algn="just"/>
            <a:r>
              <a:rPr lang="es-ES" sz="2000" dirty="0"/>
              <a:t>Mientras más complejos sean los datos (multivariados, no lineales, con </a:t>
            </a:r>
            <a:r>
              <a:rPr lang="es-ES" sz="2000" dirty="0" err="1"/>
              <a:t>clusters</a:t>
            </a:r>
            <a:r>
              <a:rPr lang="es-ES" sz="2000" dirty="0"/>
              <a:t>), mayor será la diferencia entre métodos.</a:t>
            </a:r>
          </a:p>
          <a:p>
            <a:pPr algn="just"/>
            <a:endParaRPr lang="es-ES" sz="2000" b="1" dirty="0"/>
          </a:p>
          <a:p>
            <a:pPr algn="just"/>
            <a:endParaRPr lang="es-ES" sz="2000" b="1" dirty="0"/>
          </a:p>
          <a:p>
            <a:pPr algn="just"/>
            <a:r>
              <a:rPr lang="es-ES" sz="2000" b="1" dirty="0"/>
              <a:t>Ejemplo </a:t>
            </a:r>
            <a:r>
              <a:rPr lang="es-ES" sz="2000" b="1" dirty="0" err="1"/>
              <a:t>típico:</a:t>
            </a:r>
            <a:r>
              <a:rPr lang="es-ES" sz="2000" dirty="0" err="1"/>
              <a:t>Un</a:t>
            </a:r>
            <a:r>
              <a:rPr lang="es-ES" sz="2000" dirty="0"/>
              <a:t> punto puede no ser extremo en una variable (no lo detecta IQR),pero sí estar aislado en combinación de variables (lo detecta LOF o k-NN).</a:t>
            </a:r>
            <a:endParaRPr lang="es-ES" dirty="0"/>
          </a:p>
        </p:txBody>
      </p:sp>
    </p:spTree>
    <p:extLst>
      <p:ext uri="{BB962C8B-B14F-4D97-AF65-F5344CB8AC3E}">
        <p14:creationId xmlns:p14="http://schemas.microsoft.com/office/powerpoint/2010/main" val="2740012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DDCE5-3C44-F603-C046-E5DFB443E0EF}"/>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753D28B-30AC-ADD2-5D7E-48B817003F78}"/>
              </a:ext>
            </a:extLst>
          </p:cNvPr>
          <p:cNvSpPr>
            <a:spLocks noGrp="1"/>
          </p:cNvSpPr>
          <p:nvPr>
            <p:ph type="body" idx="1"/>
          </p:nvPr>
        </p:nvSpPr>
        <p:spPr>
          <a:xfrm>
            <a:off x="1676606" y="635428"/>
            <a:ext cx="4916775" cy="469685"/>
          </a:xfrm>
        </p:spPr>
        <p:txBody>
          <a:bodyPr/>
          <a:lstStyle/>
          <a:p>
            <a:r>
              <a:rPr lang="es-ES" dirty="0"/>
              <a:t>Resultados diferentes</a:t>
            </a:r>
          </a:p>
        </p:txBody>
      </p:sp>
      <p:sp>
        <p:nvSpPr>
          <p:cNvPr id="5" name="CuadroTexto 4">
            <a:extLst>
              <a:ext uri="{FF2B5EF4-FFF2-40B4-BE49-F238E27FC236}">
                <a16:creationId xmlns:a16="http://schemas.microsoft.com/office/drawing/2014/main" id="{BE23F7D2-7C60-D16F-0217-FA0E4C2B786A}"/>
              </a:ext>
            </a:extLst>
          </p:cNvPr>
          <p:cNvSpPr txBox="1"/>
          <p:nvPr/>
        </p:nvSpPr>
        <p:spPr>
          <a:xfrm>
            <a:off x="2024991" y="1888919"/>
            <a:ext cx="8979476"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000" b="1" dirty="0"/>
              <a:t>No es un error, es información adicional</a:t>
            </a:r>
          </a:p>
          <a:p>
            <a:pPr algn="just"/>
            <a:endParaRPr lang="es-ES" sz="2000" b="1" dirty="0"/>
          </a:p>
          <a:p>
            <a:pPr algn="just"/>
            <a:r>
              <a:rPr lang="es-ES" sz="2000" dirty="0"/>
              <a:t>La diferencia entre métodos permite entender mejor los datos:</a:t>
            </a:r>
          </a:p>
          <a:p>
            <a:pPr algn="just"/>
            <a:endParaRPr lang="es-ES" sz="2000" dirty="0"/>
          </a:p>
          <a:p>
            <a:pPr marL="342900" indent="-342900" algn="just">
              <a:buFont typeface="Arial" panose="020B0604020202020204" pitchFamily="34" charset="0"/>
              <a:buChar char="•"/>
            </a:pPr>
            <a:r>
              <a:rPr lang="es-ES" sz="2000" dirty="0"/>
              <a:t>Si varios métodos coinciden → alta probabilidad de </a:t>
            </a:r>
            <a:r>
              <a:rPr lang="es-ES" sz="2000" dirty="0" err="1"/>
              <a:t>outlier</a:t>
            </a:r>
            <a:r>
              <a:rPr lang="es-ES" sz="2000" dirty="0"/>
              <a:t> real.</a:t>
            </a:r>
          </a:p>
          <a:p>
            <a:pPr marL="342900" indent="-342900" algn="just">
              <a:buFont typeface="Arial" panose="020B0604020202020204" pitchFamily="34" charset="0"/>
              <a:buChar char="•"/>
            </a:pPr>
            <a:endParaRPr lang="es-ES" sz="2000" dirty="0"/>
          </a:p>
          <a:p>
            <a:pPr marL="342900" indent="-342900" algn="just">
              <a:buFont typeface="Arial" panose="020B0604020202020204" pitchFamily="34" charset="0"/>
              <a:buChar char="•"/>
            </a:pPr>
            <a:r>
              <a:rPr lang="es-ES" sz="2000" dirty="0"/>
              <a:t>Si solo uno lo detecta → depende del criterio (puede ser un caso límite o contextual).</a:t>
            </a:r>
            <a:endParaRPr lang="es-ES" dirty="0"/>
          </a:p>
        </p:txBody>
      </p:sp>
    </p:spTree>
    <p:extLst>
      <p:ext uri="{BB962C8B-B14F-4D97-AF65-F5344CB8AC3E}">
        <p14:creationId xmlns:p14="http://schemas.microsoft.com/office/powerpoint/2010/main" val="1055961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31EDC-0BA7-A0DB-4CBA-A2C969C15E2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32D0462C-4DA5-0B38-B812-2CD308148609}"/>
              </a:ext>
            </a:extLst>
          </p:cNvPr>
          <p:cNvSpPr>
            <a:spLocks noGrp="1"/>
          </p:cNvSpPr>
          <p:nvPr>
            <p:ph type="body" idx="1"/>
          </p:nvPr>
        </p:nvSpPr>
        <p:spPr>
          <a:xfrm>
            <a:off x="1676606" y="635428"/>
            <a:ext cx="4916775" cy="469685"/>
          </a:xfrm>
        </p:spPr>
        <p:txBody>
          <a:bodyPr/>
          <a:lstStyle/>
          <a:p>
            <a:r>
              <a:rPr lang="es-ES" dirty="0"/>
              <a:t>Resultados diferentes</a:t>
            </a:r>
          </a:p>
        </p:txBody>
      </p:sp>
      <p:sp>
        <p:nvSpPr>
          <p:cNvPr id="5" name="CuadroTexto 4">
            <a:extLst>
              <a:ext uri="{FF2B5EF4-FFF2-40B4-BE49-F238E27FC236}">
                <a16:creationId xmlns:a16="http://schemas.microsoft.com/office/drawing/2014/main" id="{A9B19167-2625-0AC4-4DFB-20ECD1B4F3C7}"/>
              </a:ext>
            </a:extLst>
          </p:cNvPr>
          <p:cNvSpPr txBox="1"/>
          <p:nvPr/>
        </p:nvSpPr>
        <p:spPr>
          <a:xfrm>
            <a:off x="2024991" y="1888919"/>
            <a:ext cx="8979476"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000" b="1" dirty="0"/>
              <a:t>Estrategias para decidir qué usar.</a:t>
            </a:r>
          </a:p>
          <a:p>
            <a:pPr algn="just"/>
            <a:endParaRPr lang="es-ES" sz="2000" b="1" dirty="0"/>
          </a:p>
          <a:p>
            <a:pPr algn="just"/>
            <a:r>
              <a:rPr lang="es-ES" sz="2000" dirty="0"/>
              <a:t>Tienes tres enfoques clásicos:</a:t>
            </a:r>
          </a:p>
          <a:p>
            <a:pPr algn="just"/>
            <a:endParaRPr lang="es-ES" sz="2000" dirty="0"/>
          </a:p>
          <a:p>
            <a:pPr algn="just"/>
            <a:r>
              <a:rPr lang="es-ES" sz="2000" dirty="0"/>
              <a:t>Intersección (conservador): Solo considerar </a:t>
            </a:r>
            <a:r>
              <a:rPr lang="es-ES" sz="2000" dirty="0" err="1"/>
              <a:t>outliers</a:t>
            </a:r>
            <a:r>
              <a:rPr lang="es-ES" sz="2000" dirty="0"/>
              <a:t> detectados por varios métodos → mayor robustez.</a:t>
            </a:r>
          </a:p>
          <a:p>
            <a:pPr algn="just"/>
            <a:endParaRPr lang="es-ES" sz="2000" dirty="0"/>
          </a:p>
          <a:p>
            <a:pPr algn="just"/>
            <a:r>
              <a:rPr lang="es-ES" sz="2000" dirty="0"/>
              <a:t>Unión (exploratorio): Considerar todos los detectados → útil en detección de anomalías.</a:t>
            </a:r>
          </a:p>
          <a:p>
            <a:pPr algn="just"/>
            <a:endParaRPr lang="es-ES" sz="2000" dirty="0"/>
          </a:p>
          <a:p>
            <a:pPr algn="just"/>
            <a:r>
              <a:rPr lang="es-ES" sz="2000" dirty="0"/>
              <a:t>Basado en el modelo objetivo: Elegir el método según el algoritmo posterior:</a:t>
            </a:r>
          </a:p>
          <a:p>
            <a:pPr marL="342900" lvl="3" indent="-342900" algn="just">
              <a:buFont typeface="Arial" panose="020B0604020202020204" pitchFamily="34" charset="0"/>
              <a:buChar char="•"/>
            </a:pPr>
            <a:r>
              <a:rPr lang="es-ES" sz="2000" dirty="0"/>
              <a:t>Regresión → métodos estadísticos</a:t>
            </a:r>
          </a:p>
          <a:p>
            <a:pPr marL="342900" lvl="3" indent="-342900" algn="just">
              <a:buFont typeface="Arial" panose="020B0604020202020204" pitchFamily="34" charset="0"/>
              <a:buChar char="•"/>
            </a:pPr>
            <a:r>
              <a:rPr lang="es-ES" sz="2000" dirty="0" err="1"/>
              <a:t>Clustering</a:t>
            </a:r>
            <a:r>
              <a:rPr lang="es-ES" sz="2000" dirty="0"/>
              <a:t> → distancia</a:t>
            </a:r>
          </a:p>
          <a:p>
            <a:pPr marL="342900" lvl="3" indent="-342900" algn="just">
              <a:buFont typeface="Arial" panose="020B0604020202020204" pitchFamily="34" charset="0"/>
              <a:buChar char="•"/>
            </a:pPr>
            <a:r>
              <a:rPr lang="es-ES" sz="2000" dirty="0"/>
              <a:t>Anomalías → densidad</a:t>
            </a:r>
            <a:endParaRPr lang="es-ES" dirty="0"/>
          </a:p>
        </p:txBody>
      </p:sp>
    </p:spTree>
    <p:extLst>
      <p:ext uri="{BB962C8B-B14F-4D97-AF65-F5344CB8AC3E}">
        <p14:creationId xmlns:p14="http://schemas.microsoft.com/office/powerpoint/2010/main" val="1022278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154B7-68E1-1BE7-D939-E58BDFC498F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F57F-50B7-0EEC-7218-3CB87ACAB2E9}"/>
              </a:ext>
            </a:extLst>
          </p:cNvPr>
          <p:cNvSpPr>
            <a:spLocks noGrp="1"/>
          </p:cNvSpPr>
          <p:nvPr>
            <p:ph type="body" idx="1"/>
          </p:nvPr>
        </p:nvSpPr>
        <p:spPr>
          <a:xfrm>
            <a:off x="1676606" y="635428"/>
            <a:ext cx="4916775" cy="469685"/>
          </a:xfrm>
        </p:spPr>
        <p:txBody>
          <a:bodyPr/>
          <a:lstStyle/>
          <a:p>
            <a:r>
              <a:rPr lang="es-ES" dirty="0"/>
              <a:t>Resultados diferentes</a:t>
            </a:r>
          </a:p>
        </p:txBody>
      </p:sp>
      <p:sp>
        <p:nvSpPr>
          <p:cNvPr id="5" name="CuadroTexto 4">
            <a:extLst>
              <a:ext uri="{FF2B5EF4-FFF2-40B4-BE49-F238E27FC236}">
                <a16:creationId xmlns:a16="http://schemas.microsoft.com/office/drawing/2014/main" id="{517BA2F0-34B8-C30E-8608-2A2679DD2BC6}"/>
              </a:ext>
            </a:extLst>
          </p:cNvPr>
          <p:cNvSpPr txBox="1"/>
          <p:nvPr/>
        </p:nvSpPr>
        <p:spPr>
          <a:xfrm>
            <a:off x="2024991" y="1888919"/>
            <a:ext cx="8979476"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000" dirty="0"/>
              <a:t>Si distintos métodos detectan </a:t>
            </a:r>
            <a:r>
              <a:rPr lang="es-ES" sz="2000" dirty="0" err="1"/>
              <a:t>outliers</a:t>
            </a:r>
            <a:r>
              <a:rPr lang="es-ES" sz="2000" dirty="0"/>
              <a:t> diferentes, no significa que uno esté mal y otro bien. </a:t>
            </a:r>
          </a:p>
          <a:p>
            <a:pPr algn="just"/>
            <a:endParaRPr lang="es-ES" sz="2000" dirty="0"/>
          </a:p>
          <a:p>
            <a:pPr algn="just"/>
            <a:r>
              <a:rPr lang="es-ES" sz="2000" dirty="0"/>
              <a:t>Significa que cada técnica usa un criterio distinto para definir qué observación es anómala. </a:t>
            </a:r>
          </a:p>
          <a:p>
            <a:pPr algn="just"/>
            <a:endParaRPr lang="es-ES" sz="2000" dirty="0"/>
          </a:p>
          <a:p>
            <a:pPr algn="just"/>
            <a:r>
              <a:rPr lang="es-ES" sz="2000" dirty="0"/>
              <a:t>Algunas detectan valores extremos, otros puntos aislados respecto de sus vecinos y otros casos con baja densidad local. </a:t>
            </a:r>
          </a:p>
          <a:p>
            <a:pPr algn="just"/>
            <a:endParaRPr lang="es-ES" sz="2000" dirty="0"/>
          </a:p>
          <a:p>
            <a:pPr algn="just"/>
            <a:r>
              <a:rPr lang="es-ES" sz="2000" dirty="0"/>
              <a:t>Por eso, es normal obtener resultados distintos. </a:t>
            </a:r>
          </a:p>
          <a:p>
            <a:pPr algn="just"/>
            <a:endParaRPr lang="es-ES" sz="2000" dirty="0"/>
          </a:p>
          <a:p>
            <a:pPr algn="just"/>
            <a:r>
              <a:rPr lang="es-ES" sz="2000" dirty="0"/>
              <a:t>La elección del método debe justificarse según la naturaleza de los datos y el objetivo del análisis.</a:t>
            </a:r>
            <a:endParaRPr lang="es-ES" dirty="0"/>
          </a:p>
        </p:txBody>
      </p:sp>
    </p:spTree>
    <p:extLst>
      <p:ext uri="{BB962C8B-B14F-4D97-AF65-F5344CB8AC3E}">
        <p14:creationId xmlns:p14="http://schemas.microsoft.com/office/powerpoint/2010/main" val="550274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215D6-FB72-AF9C-3BBA-33547EB0792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AE8D1DA5-9857-7823-6BEF-754846E9F670}"/>
              </a:ext>
            </a:extLst>
          </p:cNvPr>
          <p:cNvSpPr>
            <a:spLocks noGrp="1"/>
          </p:cNvSpPr>
          <p:nvPr>
            <p:ph type="body" idx="1"/>
          </p:nvPr>
        </p:nvSpPr>
        <p:spPr>
          <a:xfrm>
            <a:off x="-119537" y="722513"/>
            <a:ext cx="4916775" cy="469685"/>
          </a:xfrm>
        </p:spPr>
        <p:txBody>
          <a:bodyPr/>
          <a:lstStyle/>
          <a:p>
            <a:r>
              <a:rPr lang="es-ES" dirty="0"/>
              <a:t>Conclusiones</a:t>
            </a:r>
          </a:p>
        </p:txBody>
      </p:sp>
      <p:sp>
        <p:nvSpPr>
          <p:cNvPr id="5" name="CuadroTexto 4">
            <a:extLst>
              <a:ext uri="{FF2B5EF4-FFF2-40B4-BE49-F238E27FC236}">
                <a16:creationId xmlns:a16="http://schemas.microsoft.com/office/drawing/2014/main" id="{70C9AF71-DB94-606C-46E6-E22F1CBDB981}"/>
              </a:ext>
            </a:extLst>
          </p:cNvPr>
          <p:cNvSpPr txBox="1"/>
          <p:nvPr/>
        </p:nvSpPr>
        <p:spPr>
          <a:xfrm>
            <a:off x="2024991" y="1888919"/>
            <a:ext cx="8979476"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000" dirty="0"/>
              <a:t>Comprender y abordar el problema de los </a:t>
            </a:r>
            <a:r>
              <a:rPr lang="es-ES" sz="2000" b="1" err="1">
                <a:solidFill>
                  <a:srgbClr val="0070C0"/>
                </a:solidFill>
              </a:rPr>
              <a:t>outliers</a:t>
            </a:r>
            <a:r>
              <a:rPr lang="es-ES" sz="2000" dirty="0"/>
              <a:t> es fundamental en el análisis de datos, ya que estos valores atípicos pueden distorsionar las distribuciones y afectar significativamente la calidad de los resultados en proyectos de machine </a:t>
            </a:r>
            <a:r>
              <a:rPr lang="es-ES" sz="2000" err="1"/>
              <a:t>learning</a:t>
            </a:r>
            <a:r>
              <a:rPr lang="es-ES" sz="2000" dirty="0"/>
              <a:t>. </a:t>
            </a:r>
            <a:endParaRPr lang="es-ES"/>
          </a:p>
          <a:p>
            <a:pPr algn="just"/>
            <a:endParaRPr lang="es-ES" sz="2000" dirty="0"/>
          </a:p>
          <a:p>
            <a:pPr algn="just"/>
            <a:r>
              <a:rPr lang="es-ES" sz="2000" dirty="0"/>
              <a:t>Durante esta sesión, hemos explorado los fundamentos teóricos de los </a:t>
            </a:r>
            <a:r>
              <a:rPr lang="es-ES" sz="2000" dirty="0" err="1"/>
              <a:t>outliers</a:t>
            </a:r>
            <a:r>
              <a:rPr lang="es-ES" sz="2000" dirty="0"/>
              <a:t>, conociendo herramientas prácticas para detectarlos y tratarlos, utilizando gráficos como el box-</a:t>
            </a:r>
            <a:r>
              <a:rPr lang="es-ES" sz="2000" dirty="0" err="1"/>
              <a:t>plot</a:t>
            </a:r>
            <a:r>
              <a:rPr lang="es-ES" sz="2000" dirty="0"/>
              <a:t> y métodos estadísticos. Este conocimiento les permitirá identificar anomalías en los datos, evaluarlas críticamente y decidir estrategias adecuadas para mantener la integridad del conjunto de datos.</a:t>
            </a:r>
            <a:endParaRPr lang="es-ES"/>
          </a:p>
        </p:txBody>
      </p:sp>
    </p:spTree>
    <p:extLst>
      <p:ext uri="{BB962C8B-B14F-4D97-AF65-F5344CB8AC3E}">
        <p14:creationId xmlns:p14="http://schemas.microsoft.com/office/powerpoint/2010/main" val="1507981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Imagen 3" descr="Interfaz de usuario gráfica&#10;&#10;El contenido generado por inteligencia artificial puede ser incorrecto.">
            <a:extLst>
              <a:ext uri="{FF2B5EF4-FFF2-40B4-BE49-F238E27FC236}">
                <a16:creationId xmlns:a16="http://schemas.microsoft.com/office/drawing/2014/main" id="{3F3D9C7E-4C15-2003-BE49-D2D56401BF03}"/>
              </a:ext>
            </a:extLst>
          </p:cNvPr>
          <p:cNvPicPr>
            <a:picLocks noChangeAspect="1"/>
          </p:cNvPicPr>
          <p:nvPr/>
        </p:nvPicPr>
        <p:blipFill>
          <a:blip r:embed="rId2"/>
          <a:srcRect l="340" t="2956" r="-170" b="39039"/>
          <a:stretch/>
        </p:blipFill>
        <p:spPr>
          <a:xfrm>
            <a:off x="3303820" y="1821560"/>
            <a:ext cx="5586046" cy="2386782"/>
          </a:xfrm>
          <a:prstGeom prst="rect">
            <a:avLst/>
          </a:prstGeom>
        </p:spPr>
      </p:pic>
      <p:pic>
        <p:nvPicPr>
          <p:cNvPr id="7" name="Imagen 6" descr="Interfaz de usuario gráfica&#10;&#10;El contenido generado por inteligencia artificial puede ser incorrecto.">
            <a:extLst>
              <a:ext uri="{FF2B5EF4-FFF2-40B4-BE49-F238E27FC236}">
                <a16:creationId xmlns:a16="http://schemas.microsoft.com/office/drawing/2014/main" id="{EB0DC698-58E8-BD0F-954E-9B31D2FECBDF}"/>
              </a:ext>
            </a:extLst>
          </p:cNvPr>
          <p:cNvPicPr>
            <a:picLocks noChangeAspect="1"/>
          </p:cNvPicPr>
          <p:nvPr/>
        </p:nvPicPr>
        <p:blipFill>
          <a:blip r:embed="rId2"/>
          <a:srcRect t="73389" r="103" b="-140"/>
          <a:stretch/>
        </p:blipFill>
        <p:spPr>
          <a:xfrm>
            <a:off x="1465495" y="4212335"/>
            <a:ext cx="9253170" cy="1821830"/>
          </a:xfrm>
          <a:prstGeom prst="rect">
            <a:avLst/>
          </a:prstGeom>
        </p:spPr>
      </p:pic>
    </p:spTree>
    <p:extLst>
      <p:ext uri="{BB962C8B-B14F-4D97-AF65-F5344CB8AC3E}">
        <p14:creationId xmlns:p14="http://schemas.microsoft.com/office/powerpoint/2010/main" val="1671260188"/>
      </p:ext>
    </p:extLst>
  </p:cSld>
  <p:clrMapOvr>
    <a:masterClrMapping/>
  </p:clrMapOvr>
</p:sld>
</file>

<file path=ppt/theme/theme1.xml><?xml version="1.0" encoding="utf-8"?>
<a:theme xmlns:a="http://schemas.openxmlformats.org/drawingml/2006/main" name="Tema de Office">
  <a:themeElements>
    <a:clrScheme name="Tema de Office">
      <a:dk1>
        <a:srgbClr val="000000"/>
      </a:dk1>
      <a:lt1>
        <a:srgbClr val="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1453</Words>
  <Application>Microsoft Office PowerPoint</Application>
  <PresentationFormat>Panorámica</PresentationFormat>
  <Paragraphs>132</Paragraphs>
  <Slides>21</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Aptos</vt:lpstr>
      <vt:lpstr>Bierstadt Display</vt:lpstr>
      <vt:lpstr>Arial</vt:lpstr>
      <vt:lpstr>Play</vt:lpstr>
      <vt:lpstr>Tema de Office</vt:lpstr>
      <vt:lpstr>DATOS ATÍPICOS (OUTLIERS)</vt:lpstr>
      <vt:lpstr>Presentación de PowerPoint</vt:lpstr>
      <vt:lpstr>Presentación de PowerPoint</vt:lpstr>
      <vt:lpstr>MÉTODOS PARA DETECTAR OUTLIERS</vt:lpstr>
      <vt:lpstr>OUTLIERS</vt:lpstr>
      <vt:lpstr>OUTLIERS</vt:lpstr>
      <vt:lpstr>OUTLIERS</vt:lpstr>
      <vt:lpstr>OUTLIERS</vt:lpstr>
      <vt:lpstr>Presentación de PowerPoint</vt:lpstr>
      <vt:lpstr>Presentación de PowerPoint</vt:lpstr>
      <vt:lpstr>ESTADÍSTICAS CON OUTLIERS</vt:lpstr>
      <vt:lpstr>Presentación de PowerPoint</vt:lpstr>
      <vt:lpstr>Presentación de PowerPoint</vt:lpstr>
      <vt:lpstr>Conclusiones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DATOS ATÍPICOS (OUTLIERS)</dc:title>
  <dc:creator>Daniela Osorio C.</dc:creator>
  <cp:lastModifiedBy>guillermo pinto</cp:lastModifiedBy>
  <cp:revision>96</cp:revision>
  <dcterms:created xsi:type="dcterms:W3CDTF">2024-03-07T18:55:37Z</dcterms:created>
  <dcterms:modified xsi:type="dcterms:W3CDTF">2026-03-20T19:37:02Z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0x0101004E9A3AE23414AD41A4F4D6368514CED2</vt:lpwstr>
  </property>
</Properties>
</file>